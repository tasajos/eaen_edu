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46" d="100"/>
          <a:sy n="146" d="100"/>
        </p:scale>
        <p:origin x="594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80115014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0336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5143500"/>
          </a:xfrm>
          <a:prstGeom prst="rect">
            <a:avLst/>
          </a:prstGeom>
          <a:solidFill>
            <a:srgbClr val="FF6600"/>
          </a:solidFill>
          <a:ln w="12700">
            <a:solidFill>
              <a:srgbClr val="FF660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4389120"/>
            <a:ext cx="9144000" cy="754380"/>
          </a:xfrm>
          <a:prstGeom prst="rect">
            <a:avLst/>
          </a:prstGeom>
          <a:solidFill>
            <a:srgbClr val="002244"/>
          </a:solidFill>
          <a:ln w="12700">
            <a:solidFill>
              <a:srgbClr val="002244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02920" y="502920"/>
            <a:ext cx="1463040" cy="1463040"/>
          </a:xfrm>
          <a:prstGeom prst="ellipse">
            <a:avLst/>
          </a:prstGeom>
          <a:solidFill>
            <a:srgbClr val="FF6600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240280" y="502920"/>
            <a:ext cx="6583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kern="0" spc="200" dirty="0">
                <a:solidFill>
                  <a:srgbClr val="E8EC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ESCUELA DE ALTOS ESTUDIOS NACIONALES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2240280" y="886968"/>
            <a:ext cx="6583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AABB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"Cnl. Eduardo Avaroa" — Unidad Académica Cochabamba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240280" y="1261872"/>
            <a:ext cx="6583680" cy="0"/>
          </a:xfrm>
          <a:prstGeom prst="line">
            <a:avLst/>
          </a:prstGeom>
          <a:noFill/>
          <a:ln w="19050">
            <a:solidFill>
              <a:srgbClr val="FF660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240280" y="1371600"/>
            <a:ext cx="65836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Sistema de Gestión</a:t>
            </a:r>
            <a:endParaRPr lang="en-US" sz="4000" dirty="0"/>
          </a:p>
        </p:txBody>
      </p:sp>
      <p:sp>
        <p:nvSpPr>
          <p:cNvPr id="10" name="Text 8"/>
          <p:cNvSpPr/>
          <p:nvPr/>
        </p:nvSpPr>
        <p:spPr>
          <a:xfrm>
            <a:off x="2240280" y="1993392"/>
            <a:ext cx="65836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4000" dirty="0"/>
          </a:p>
        </p:txBody>
      </p:sp>
      <p:sp>
        <p:nvSpPr>
          <p:cNvPr id="11" name="Shape 9"/>
          <p:cNvSpPr/>
          <p:nvPr/>
        </p:nvSpPr>
        <p:spPr>
          <a:xfrm>
            <a:off x="2240280" y="2743200"/>
            <a:ext cx="1280160" cy="365760"/>
          </a:xfrm>
          <a:prstGeom prst="rect">
            <a:avLst/>
          </a:prstGeom>
          <a:solidFill>
            <a:srgbClr val="FF6600"/>
          </a:solidFill>
          <a:ln w="12700">
            <a:solidFill>
              <a:srgbClr val="FF660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240280" y="2743200"/>
            <a:ext cx="1280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v1.0  ·  2026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2240280" y="3200400"/>
            <a:ext cx="6583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AABB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Primer Release — Gestión académica y </a:t>
            </a:r>
            <a:r>
              <a:rPr lang="en-US" sz="1400" dirty="0" err="1">
                <a:solidFill>
                  <a:srgbClr val="AABB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financiera</a:t>
            </a:r>
            <a:r>
              <a:rPr lang="en-US" sz="1400" dirty="0">
                <a:solidFill>
                  <a:srgbClr val="AABB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integral</a:t>
            </a:r>
            <a:br>
              <a:rPr lang="en-US" sz="1400" dirty="0">
                <a:solidFill>
                  <a:srgbClr val="AABB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</a:br>
            <a:r>
              <a:rPr lang="en-US" sz="1400" dirty="0">
                <a:solidFill>
                  <a:srgbClr val="AABB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Azcarraga </a:t>
            </a:r>
            <a:r>
              <a:rPr lang="en-US" sz="1400" dirty="0" err="1">
                <a:solidFill>
                  <a:srgbClr val="AABB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Ing.Hnos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274320" y="4462272"/>
            <a:ext cx="8595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7799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EAEN Avaroa  ·  Sistema de Gestión Educativa  ·  Cochabamba, Bolivia</a:t>
            </a:r>
            <a:endParaRPr lang="en-US" sz="1000" dirty="0"/>
          </a:p>
        </p:txBody>
      </p:sp>
      <p:pic>
        <p:nvPicPr>
          <p:cNvPr id="16" name="Imagen 15">
            <a:extLst>
              <a:ext uri="{FF2B5EF4-FFF2-40B4-BE49-F238E27FC236}">
                <a16:creationId xmlns:a16="http://schemas.microsoft.com/office/drawing/2014/main" id="{18FAC2B3-418D-A36A-F878-648CC4FDD6D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28366" y="475204"/>
            <a:ext cx="2498180" cy="1408748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03366"/>
          </a:solidFill>
          <a:ln w="12700">
            <a:solidFill>
              <a:srgbClr val="00336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777240"/>
            <a:ext cx="9144000" cy="64008"/>
          </a:xfrm>
          <a:prstGeom prst="rect">
            <a:avLst/>
          </a:prstGeom>
          <a:solidFill>
            <a:srgbClr val="FF6600"/>
          </a:solidFill>
          <a:ln w="12700">
            <a:solidFill>
              <a:srgbClr val="FF660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109728"/>
            <a:ext cx="8412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¿Por qué EAEN Avaroa?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274320" y="1051560"/>
            <a:ext cx="2788920" cy="329184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CF2"/>
            </a:solidFill>
            <a:prstDash val="solid"/>
          </a:ln>
          <a:effectLst>
            <a:outerShdw blurRad="101600" dist="38100" dir="8100000" algn="bl" rotWithShape="0">
              <a:srgbClr val="000000">
                <a:alpha val="13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74320" y="1051560"/>
            <a:ext cx="2788920" cy="64008"/>
          </a:xfrm>
          <a:prstGeom prst="rect">
            <a:avLst/>
          </a:prstGeom>
          <a:solidFill>
            <a:srgbClr val="FF6600"/>
          </a:solidFill>
          <a:ln w="12700">
            <a:solidFill>
              <a:srgbClr val="FF660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74320" y="1234440"/>
            <a:ext cx="2788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200" dirty="0">
                <a:solidFill>
                  <a:srgbClr val="000000"/>
                </a:solidFill>
              </a:rPr>
              <a:t>📋</a:t>
            </a:r>
            <a:endParaRPr lang="en-US" sz="3200" dirty="0"/>
          </a:p>
        </p:txBody>
      </p:sp>
      <p:sp>
        <p:nvSpPr>
          <p:cNvPr id="8" name="Text 6"/>
          <p:cNvSpPr/>
          <p:nvPr/>
        </p:nvSpPr>
        <p:spPr>
          <a:xfrm>
            <a:off x="411480" y="1920240"/>
            <a:ext cx="2514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033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Gestión Manual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411480" y="2423160"/>
            <a:ext cx="251460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6B7A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Registros en papel o Excel dispersos. Sin centralización de asistencia, notas y tareas.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3291840" y="1051560"/>
            <a:ext cx="2788920" cy="329184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CF2"/>
            </a:solidFill>
            <a:prstDash val="solid"/>
          </a:ln>
          <a:effectLst>
            <a:outerShdw blurRad="101600" dist="38100" dir="8100000" algn="bl" rotWithShape="0">
              <a:srgbClr val="000000">
                <a:alpha val="13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291840" y="1051560"/>
            <a:ext cx="2788920" cy="64008"/>
          </a:xfrm>
          <a:prstGeom prst="rect">
            <a:avLst/>
          </a:prstGeom>
          <a:solidFill>
            <a:srgbClr val="FF6600"/>
          </a:solidFill>
          <a:ln w="12700">
            <a:solidFill>
              <a:srgbClr val="FF660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291840" y="1234440"/>
            <a:ext cx="2788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200" dirty="0">
                <a:solidFill>
                  <a:srgbClr val="000000"/>
                </a:solidFill>
              </a:rPr>
              <a:t>💰</a:t>
            </a:r>
            <a:endParaRPr lang="en-US" sz="3200" dirty="0"/>
          </a:p>
        </p:txBody>
      </p:sp>
      <p:sp>
        <p:nvSpPr>
          <p:cNvPr id="13" name="Text 11"/>
          <p:cNvSpPr/>
          <p:nvPr/>
        </p:nvSpPr>
        <p:spPr>
          <a:xfrm>
            <a:off x="3429000" y="1920240"/>
            <a:ext cx="2514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033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 Financiero Débil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3429000" y="2423160"/>
            <a:ext cx="251460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6B7A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 seguimiento automatizado de matrículas, guías y mensualidades por cursante.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6309360" y="1051560"/>
            <a:ext cx="2788920" cy="329184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CF2"/>
            </a:solidFill>
            <a:prstDash val="solid"/>
          </a:ln>
          <a:effectLst>
            <a:outerShdw blurRad="101600" dist="38100" dir="8100000" algn="bl" rotWithShape="0">
              <a:srgbClr val="000000">
                <a:alpha val="13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6309360" y="1051560"/>
            <a:ext cx="2788920" cy="64008"/>
          </a:xfrm>
          <a:prstGeom prst="rect">
            <a:avLst/>
          </a:prstGeom>
          <a:solidFill>
            <a:srgbClr val="FF6600"/>
          </a:solidFill>
          <a:ln w="12700">
            <a:solidFill>
              <a:srgbClr val="FF660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309360" y="1234440"/>
            <a:ext cx="2788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200" dirty="0">
                <a:solidFill>
                  <a:srgbClr val="000000"/>
                </a:solidFill>
              </a:rPr>
              <a:t>🔒</a:t>
            </a:r>
            <a:endParaRPr lang="en-US" sz="3200" dirty="0"/>
          </a:p>
        </p:txBody>
      </p:sp>
      <p:sp>
        <p:nvSpPr>
          <p:cNvPr id="18" name="Text 16"/>
          <p:cNvSpPr/>
          <p:nvPr/>
        </p:nvSpPr>
        <p:spPr>
          <a:xfrm>
            <a:off x="6446520" y="1920240"/>
            <a:ext cx="2514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033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 Control de Acceso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6446520" y="2423160"/>
            <a:ext cx="251460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6B7A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Imposible restringir acceso a cursantes morosos ni auditar quién accede al sistema.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0" y="4480560"/>
            <a:ext cx="9144000" cy="662940"/>
          </a:xfrm>
          <a:prstGeom prst="rect">
            <a:avLst/>
          </a:prstGeom>
          <a:solidFill>
            <a:srgbClr val="0055AA"/>
          </a:solidFill>
          <a:ln w="12700">
            <a:solidFill>
              <a:srgbClr val="0055A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274320" y="4507992"/>
            <a:ext cx="8595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EAEN Avaroa centraliza todo en una sola plataforma web institucional</a:t>
            </a:r>
            <a:endParaRPr lang="en-US" sz="14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0336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3366"/>
          </a:solidFill>
          <a:ln w="12700">
            <a:solidFill>
              <a:srgbClr val="00336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02244"/>
          </a:solidFill>
          <a:ln w="12700">
            <a:solidFill>
              <a:srgbClr val="002244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777240"/>
            <a:ext cx="9144000" cy="64008"/>
          </a:xfrm>
          <a:prstGeom prst="rect">
            <a:avLst/>
          </a:prstGeom>
          <a:solidFill>
            <a:srgbClr val="FF6600"/>
          </a:solidFill>
          <a:ln w="12700">
            <a:solidFill>
              <a:srgbClr val="FF660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65760" y="109728"/>
            <a:ext cx="8412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Arquitectura del Sistema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320040" y="1005840"/>
            <a:ext cx="8503920" cy="914400"/>
          </a:xfrm>
          <a:prstGeom prst="rect">
            <a:avLst/>
          </a:prstGeom>
          <a:solidFill>
            <a:srgbClr val="0D2B4E"/>
          </a:solidFill>
          <a:ln w="12700">
            <a:solidFill>
              <a:srgbClr val="1E4D7A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20040" y="1005840"/>
            <a:ext cx="201168" cy="914400"/>
          </a:xfrm>
          <a:prstGeom prst="rect">
            <a:avLst/>
          </a:prstGeom>
          <a:solidFill>
            <a:srgbClr val="FF6600"/>
          </a:solidFill>
          <a:ln w="12700">
            <a:solidFill>
              <a:srgbClr val="FF660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21792" y="1069848"/>
            <a:ext cx="2194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66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621792" y="1435608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i="1" dirty="0">
                <a:solidFill>
                  <a:srgbClr val="99BB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+ Vite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2999232" y="1115568"/>
            <a:ext cx="0" cy="694944"/>
          </a:xfrm>
          <a:prstGeom prst="line">
            <a:avLst/>
          </a:prstGeom>
          <a:noFill/>
          <a:ln w="19050">
            <a:solidFill>
              <a:srgbClr val="2A5A8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154680" y="1170432"/>
            <a:ext cx="5486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DDEE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Dashboards por rol, componentes modulares, CSS propio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320040" y="2148840"/>
            <a:ext cx="8503920" cy="914400"/>
          </a:xfrm>
          <a:prstGeom prst="rect">
            <a:avLst/>
          </a:prstGeom>
          <a:solidFill>
            <a:srgbClr val="0D2B4E"/>
          </a:solidFill>
          <a:ln w="12700">
            <a:solidFill>
              <a:srgbClr val="1E4D7A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20040" y="2148840"/>
            <a:ext cx="201168" cy="914400"/>
          </a:xfrm>
          <a:prstGeom prst="rect">
            <a:avLst/>
          </a:prstGeom>
          <a:solidFill>
            <a:srgbClr val="0077CC"/>
          </a:solidFill>
          <a:ln w="12700">
            <a:solidFill>
              <a:srgbClr val="0077C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21792" y="2212848"/>
            <a:ext cx="2194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077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621792" y="2578608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i="1" dirty="0">
                <a:solidFill>
                  <a:srgbClr val="99BB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Node.js + Express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2999232" y="2258568"/>
            <a:ext cx="0" cy="694944"/>
          </a:xfrm>
          <a:prstGeom prst="line">
            <a:avLst/>
          </a:prstGeom>
          <a:noFill/>
          <a:ln w="19050">
            <a:solidFill>
              <a:srgbClr val="2A5A8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154680" y="2313432"/>
            <a:ext cx="5486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DDEE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REST, autenticación CI/password, pool de conexiones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320040" y="3291840"/>
            <a:ext cx="8503920" cy="914400"/>
          </a:xfrm>
          <a:prstGeom prst="rect">
            <a:avLst/>
          </a:prstGeom>
          <a:solidFill>
            <a:srgbClr val="0D2B4E"/>
          </a:solidFill>
          <a:ln w="12700">
            <a:solidFill>
              <a:srgbClr val="1E4D7A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320040" y="3291840"/>
            <a:ext cx="201168" cy="914400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21792" y="3355848"/>
            <a:ext cx="2194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 DE DATOS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621792" y="3721608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i="1" dirty="0">
                <a:solidFill>
                  <a:srgbClr val="99BB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MySQL / MariaDB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2999232" y="3401568"/>
            <a:ext cx="0" cy="694944"/>
          </a:xfrm>
          <a:prstGeom prst="line">
            <a:avLst/>
          </a:prstGeom>
          <a:noFill/>
          <a:ln w="19050">
            <a:solidFill>
              <a:srgbClr val="2A5A8A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154680" y="3456432"/>
            <a:ext cx="5486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DDEE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Esquema relacional, constraints, migraciones por módulo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466344" y="1920240"/>
            <a:ext cx="0" cy="228600"/>
          </a:xfrm>
          <a:prstGeom prst="line">
            <a:avLst/>
          </a:prstGeom>
          <a:noFill/>
          <a:ln w="19050">
            <a:solidFill>
              <a:srgbClr val="FFFFFF">
                <a:alpha val="60000"/>
              </a:srgbClr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466344" y="3063240"/>
            <a:ext cx="0" cy="228600"/>
          </a:xfrm>
          <a:prstGeom prst="line">
            <a:avLst/>
          </a:prstGeom>
          <a:noFill/>
          <a:ln w="19050">
            <a:solidFill>
              <a:srgbClr val="FFFFFF">
                <a:alpha val="60000"/>
              </a:srgbClr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65760" y="4343400"/>
            <a:ext cx="8412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7799B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Inicio: node server.js  ·  Puerto 5000  ·  Base de datos: eaen_educacion</a:t>
            </a:r>
            <a:endParaRPr lang="en-US" sz="10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03366"/>
          </a:solidFill>
          <a:ln w="12700">
            <a:solidFill>
              <a:srgbClr val="00336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777240"/>
            <a:ext cx="9144000" cy="64008"/>
          </a:xfrm>
          <a:prstGeom prst="rect">
            <a:avLst/>
          </a:prstGeom>
          <a:solidFill>
            <a:srgbClr val="FF6600"/>
          </a:solidFill>
          <a:ln w="12700">
            <a:solidFill>
              <a:srgbClr val="FF660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109728"/>
            <a:ext cx="8412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Roles y Control de Acceso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228600" y="960120"/>
            <a:ext cx="1572768" cy="2743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CF2"/>
            </a:solidFill>
            <a:prstDash val="solid"/>
          </a:ln>
          <a:effectLst>
            <a:outerShdw blurRad="101600" dist="38100" dir="8100000" algn="bl" rotWithShape="0">
              <a:srgbClr val="000000">
                <a:alpha val="13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28600" y="960120"/>
            <a:ext cx="1572768" cy="502920"/>
          </a:xfrm>
          <a:prstGeom prst="rect">
            <a:avLst/>
          </a:prstGeom>
          <a:solidFill>
            <a:srgbClr val="003366"/>
          </a:solidFill>
          <a:ln w="12700">
            <a:solidFill>
              <a:srgbClr val="00336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28600" y="1490472"/>
            <a:ext cx="157276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dirty="0">
                <a:solidFill>
                  <a:srgbClr val="000000"/>
                </a:solidFill>
              </a:rPr>
              <a:t>🎓</a:t>
            </a:r>
            <a:endParaRPr lang="en-US" sz="2600" dirty="0"/>
          </a:p>
        </p:txBody>
      </p:sp>
      <p:sp>
        <p:nvSpPr>
          <p:cNvPr id="8" name="Text 6"/>
          <p:cNvSpPr/>
          <p:nvPr/>
        </p:nvSpPr>
        <p:spPr>
          <a:xfrm>
            <a:off x="292608" y="2039112"/>
            <a:ext cx="144475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033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JEFE_ESTUDIOS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292608" y="2423160"/>
            <a:ext cx="1444752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B7A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Panel completo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6B7A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Usuarios · Cursos · Educativa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6B7A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Finanzas · Evaluaciones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2057400" y="960120"/>
            <a:ext cx="1572768" cy="2743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CF2"/>
            </a:solidFill>
            <a:prstDash val="solid"/>
          </a:ln>
          <a:effectLst>
            <a:outerShdw blurRad="101600" dist="38100" dir="8100000" algn="bl" rotWithShape="0">
              <a:srgbClr val="000000">
                <a:alpha val="13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2057400" y="960120"/>
            <a:ext cx="1572768" cy="502920"/>
          </a:xfrm>
          <a:prstGeom prst="rect">
            <a:avLst/>
          </a:prstGeom>
          <a:solidFill>
            <a:srgbClr val="0077CC"/>
          </a:solidFill>
          <a:ln w="12700">
            <a:solidFill>
              <a:srgbClr val="0077CC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057400" y="1490472"/>
            <a:ext cx="157276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dirty="0">
                <a:solidFill>
                  <a:srgbClr val="000000"/>
                </a:solidFill>
              </a:rPr>
              <a:t>👨‍🏫</a:t>
            </a:r>
            <a:endParaRPr lang="en-US" sz="2600" dirty="0"/>
          </a:p>
        </p:txBody>
      </p:sp>
      <p:sp>
        <p:nvSpPr>
          <p:cNvPr id="13" name="Text 11"/>
          <p:cNvSpPr/>
          <p:nvPr/>
        </p:nvSpPr>
        <p:spPr>
          <a:xfrm>
            <a:off x="2121408" y="2039112"/>
            <a:ext cx="144475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077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DOCENTE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2121408" y="2423160"/>
            <a:ext cx="1444752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B7A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Asistencia · Calificaciones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6B7A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Tareas · Calendario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6B7A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(todos los cursos)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3886200" y="960120"/>
            <a:ext cx="1572768" cy="2743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CF2"/>
            </a:solidFill>
            <a:prstDash val="solid"/>
          </a:ln>
          <a:effectLst>
            <a:outerShdw blurRad="101600" dist="38100" dir="8100000" algn="bl" rotWithShape="0">
              <a:srgbClr val="000000">
                <a:alpha val="13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3886200" y="960120"/>
            <a:ext cx="1572768" cy="502920"/>
          </a:xfrm>
          <a:prstGeom prst="rect">
            <a:avLst/>
          </a:prstGeom>
          <a:solidFill>
            <a:srgbClr val="6A1B9A"/>
          </a:solidFill>
          <a:ln w="12700">
            <a:solidFill>
              <a:srgbClr val="6A1B9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886200" y="1490472"/>
            <a:ext cx="157276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dirty="0">
                <a:solidFill>
                  <a:srgbClr val="000000"/>
                </a:solidFill>
              </a:rPr>
              <a:t>📚</a:t>
            </a:r>
            <a:endParaRPr lang="en-US" sz="2600" dirty="0"/>
          </a:p>
        </p:txBody>
      </p:sp>
      <p:sp>
        <p:nvSpPr>
          <p:cNvPr id="18" name="Text 16"/>
          <p:cNvSpPr/>
          <p:nvPr/>
        </p:nvSpPr>
        <p:spPr>
          <a:xfrm>
            <a:off x="3950208" y="2039112"/>
            <a:ext cx="144475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6A1B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JEFE_CURSO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3950208" y="2423160"/>
            <a:ext cx="1444752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B7A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 de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6B7A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 curso asignado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6B7A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 responsabilidades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5715000" y="960120"/>
            <a:ext cx="1572768" cy="2743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CF2"/>
            </a:solidFill>
            <a:prstDash val="solid"/>
          </a:ln>
          <a:effectLst>
            <a:outerShdw blurRad="101600" dist="38100" dir="8100000" algn="bl" rotWithShape="0">
              <a:srgbClr val="000000">
                <a:alpha val="13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5715000" y="960120"/>
            <a:ext cx="1572768" cy="502920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715000" y="1490472"/>
            <a:ext cx="157276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dirty="0">
                <a:solidFill>
                  <a:srgbClr val="000000"/>
                </a:solidFill>
              </a:rPr>
              <a:t>🎒</a:t>
            </a:r>
            <a:endParaRPr lang="en-US" sz="2600" dirty="0"/>
          </a:p>
        </p:txBody>
      </p:sp>
      <p:sp>
        <p:nvSpPr>
          <p:cNvPr id="23" name="Text 21"/>
          <p:cNvSpPr/>
          <p:nvPr/>
        </p:nvSpPr>
        <p:spPr>
          <a:xfrm>
            <a:off x="5779008" y="2039112"/>
            <a:ext cx="144475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CURSANTE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5779008" y="2423160"/>
            <a:ext cx="1444752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B7A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Tareas · Notas · Asistencia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6B7A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Calendario · Evaluaciones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6B7A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💰 Módulo de Pagos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7543800" y="960120"/>
            <a:ext cx="1572768" cy="2743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CF2"/>
            </a:solidFill>
            <a:prstDash val="solid"/>
          </a:ln>
          <a:effectLst>
            <a:outerShdw blurRad="101600" dist="38100" dir="8100000" algn="bl" rotWithShape="0">
              <a:srgbClr val="000000">
                <a:alpha val="13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7543800" y="960120"/>
            <a:ext cx="1572768" cy="502920"/>
          </a:xfrm>
          <a:prstGeom prst="rect">
            <a:avLst/>
          </a:prstGeom>
          <a:solidFill>
            <a:srgbClr val="E65C00"/>
          </a:solidFill>
          <a:ln w="12700">
            <a:solidFill>
              <a:srgbClr val="E65C0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7543800" y="1490472"/>
            <a:ext cx="157276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dirty="0">
                <a:solidFill>
                  <a:srgbClr val="000000"/>
                </a:solidFill>
              </a:rPr>
              <a:t>💰</a:t>
            </a:r>
            <a:endParaRPr lang="en-US" sz="2600" dirty="0"/>
          </a:p>
        </p:txBody>
      </p:sp>
      <p:sp>
        <p:nvSpPr>
          <p:cNvPr id="28" name="Text 26"/>
          <p:cNvSpPr/>
          <p:nvPr/>
        </p:nvSpPr>
        <p:spPr>
          <a:xfrm>
            <a:off x="7607808" y="2039112"/>
            <a:ext cx="144475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E65C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ADMIN_FINANZAS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7607808" y="2423160"/>
            <a:ext cx="1444752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B7A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Matrículas · Guías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6B7A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Mensualidades · Mora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6B7A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Vouchers de pago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228600" y="3858768"/>
            <a:ext cx="8686800" cy="640080"/>
          </a:xfrm>
          <a:prstGeom prst="rect">
            <a:avLst/>
          </a:prstGeom>
          <a:solidFill>
            <a:srgbClr val="FFF3E0"/>
          </a:solidFill>
          <a:ln w="12700">
            <a:solidFill>
              <a:srgbClr val="FF660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365760" y="3904488"/>
            <a:ext cx="8412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8B4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⚠️  Cursantes con pagos en mora son bloqueados automáticamente al iniciar sesión — modal de Acceso Restringido inescapable hasta regularizar con Finanzas</a:t>
            </a:r>
            <a:endParaRPr lang="en-US" sz="11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03366"/>
          </a:solidFill>
          <a:ln w="12700">
            <a:solidFill>
              <a:srgbClr val="00336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777240"/>
            <a:ext cx="9144000" cy="64008"/>
          </a:xfrm>
          <a:prstGeom prst="rect">
            <a:avLst/>
          </a:prstGeom>
          <a:solidFill>
            <a:srgbClr val="FF6600"/>
          </a:solidFill>
          <a:ln w="12700">
            <a:solidFill>
              <a:srgbClr val="FF660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109728"/>
            <a:ext cx="8412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Módulos Académicos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228600" y="960120"/>
            <a:ext cx="2743200" cy="1691640"/>
          </a:xfrm>
          <a:prstGeom prst="rect">
            <a:avLst/>
          </a:prstGeom>
          <a:solidFill>
            <a:srgbClr val="F0F4F8"/>
          </a:solidFill>
          <a:ln w="12700">
            <a:solidFill>
              <a:srgbClr val="E8ECF2"/>
            </a:solidFill>
            <a:prstDash val="solid"/>
          </a:ln>
          <a:effectLst>
            <a:outerShdw blurRad="101600" dist="38100" dir="8100000" algn="bl" rotWithShape="0">
              <a:srgbClr val="000000">
                <a:alpha val="13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28600" y="960120"/>
            <a:ext cx="292608" cy="1691640"/>
          </a:xfrm>
          <a:prstGeom prst="rect">
            <a:avLst/>
          </a:prstGeom>
          <a:solidFill>
            <a:srgbClr val="0077CC"/>
          </a:solidFill>
          <a:ln w="12700">
            <a:solidFill>
              <a:srgbClr val="0077C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10058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000000"/>
                </a:solidFill>
              </a:rPr>
              <a:t>📋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548640" y="1005840"/>
            <a:ext cx="2331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77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Asistencia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576072" y="1417320"/>
            <a:ext cx="2286000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1A25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Registro diario por materia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1A25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Estados: P / T / A / J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1A25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Historial con resumen por fecha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1A25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Vista docente y jefe de estudios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3127248" y="960120"/>
            <a:ext cx="2743200" cy="1691640"/>
          </a:xfrm>
          <a:prstGeom prst="rect">
            <a:avLst/>
          </a:prstGeom>
          <a:solidFill>
            <a:srgbClr val="F0F4F8"/>
          </a:solidFill>
          <a:ln w="12700">
            <a:solidFill>
              <a:srgbClr val="E8ECF2"/>
            </a:solidFill>
            <a:prstDash val="solid"/>
          </a:ln>
          <a:effectLst>
            <a:outerShdw blurRad="101600" dist="38100" dir="8100000" algn="bl" rotWithShape="0">
              <a:srgbClr val="000000">
                <a:alpha val="13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127248" y="960120"/>
            <a:ext cx="292608" cy="1691640"/>
          </a:xfrm>
          <a:prstGeom prst="rect">
            <a:avLst/>
          </a:prstGeom>
          <a:solidFill>
            <a:srgbClr val="6A1B9A"/>
          </a:solidFill>
          <a:ln w="12700">
            <a:solidFill>
              <a:srgbClr val="6A1B9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447288" y="10058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000000"/>
                </a:solidFill>
              </a:rPr>
              <a:t>📊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3447288" y="1005840"/>
            <a:ext cx="2331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6A1B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Calificaciones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3474720" y="1417320"/>
            <a:ext cx="2286000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1A25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Config. evaluaciones con pesos (%)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1A25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Auto-cálculo desde notas de tareas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1A25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Bloqueo permanente al confirmar 🔒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1A25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Libro de notas por cursante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6025896" y="960120"/>
            <a:ext cx="2743200" cy="1691640"/>
          </a:xfrm>
          <a:prstGeom prst="rect">
            <a:avLst/>
          </a:prstGeom>
          <a:solidFill>
            <a:srgbClr val="F0F4F8"/>
          </a:solidFill>
          <a:ln w="12700">
            <a:solidFill>
              <a:srgbClr val="E8ECF2"/>
            </a:solidFill>
            <a:prstDash val="solid"/>
          </a:ln>
          <a:effectLst>
            <a:outerShdw blurRad="101600" dist="38100" dir="8100000" algn="bl" rotWithShape="0">
              <a:srgbClr val="000000">
                <a:alpha val="13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6025896" y="960120"/>
            <a:ext cx="292608" cy="1691640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345936" y="10058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000000"/>
                </a:solidFill>
              </a:rPr>
              <a:t>📤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6345936" y="1005840"/>
            <a:ext cx="2331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Tareas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6373368" y="1417320"/>
            <a:ext cx="2286000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1A25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Docente crea, cursante responde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1A25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Estado: Pendiente / Entregado / Calificado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1A25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Feedback personalizado por cursante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1A25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Nota de tarea → calificaciones auto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228600" y="2852928"/>
            <a:ext cx="2743200" cy="1691640"/>
          </a:xfrm>
          <a:prstGeom prst="rect">
            <a:avLst/>
          </a:prstGeom>
          <a:solidFill>
            <a:srgbClr val="F0F4F8"/>
          </a:solidFill>
          <a:ln w="12700">
            <a:solidFill>
              <a:srgbClr val="E8ECF2"/>
            </a:solidFill>
            <a:prstDash val="solid"/>
          </a:ln>
          <a:effectLst>
            <a:outerShdw blurRad="101600" dist="38100" dir="8100000" algn="bl" rotWithShape="0">
              <a:srgbClr val="000000">
                <a:alpha val="13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228600" y="2852928"/>
            <a:ext cx="292608" cy="1691640"/>
          </a:xfrm>
          <a:prstGeom prst="rect">
            <a:avLst/>
          </a:prstGeom>
          <a:solidFill>
            <a:srgbClr val="E65C00"/>
          </a:solidFill>
          <a:ln w="12700">
            <a:solidFill>
              <a:srgbClr val="E65C0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48640" y="2898648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000000"/>
                </a:solidFill>
              </a:rPr>
              <a:t>📅</a:t>
            </a:r>
            <a:endParaRPr lang="en-US" sz="2000" dirty="0"/>
          </a:p>
        </p:txBody>
      </p:sp>
      <p:sp>
        <p:nvSpPr>
          <p:cNvPr id="23" name="Text 21"/>
          <p:cNvSpPr/>
          <p:nvPr/>
        </p:nvSpPr>
        <p:spPr>
          <a:xfrm>
            <a:off x="548640" y="2898648"/>
            <a:ext cx="2331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E65C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Horarios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576072" y="3310128"/>
            <a:ext cx="2286000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1A25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Clase única o rango de fechas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1A25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Selección de días de la semana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1A25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Vista calendario mes + lista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1A25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Detección de conflictos de horario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3127248" y="2852928"/>
            <a:ext cx="2743200" cy="1691640"/>
          </a:xfrm>
          <a:prstGeom prst="rect">
            <a:avLst/>
          </a:prstGeom>
          <a:solidFill>
            <a:srgbClr val="F0F4F8"/>
          </a:solidFill>
          <a:ln w="12700">
            <a:solidFill>
              <a:srgbClr val="E8ECF2"/>
            </a:solidFill>
            <a:prstDash val="solid"/>
          </a:ln>
          <a:effectLst>
            <a:outerShdw blurRad="101600" dist="38100" dir="8100000" algn="bl" rotWithShape="0">
              <a:srgbClr val="000000">
                <a:alpha val="13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3127248" y="2852928"/>
            <a:ext cx="292608" cy="1691640"/>
          </a:xfrm>
          <a:prstGeom prst="rect">
            <a:avLst/>
          </a:prstGeom>
          <a:solidFill>
            <a:srgbClr val="C62828"/>
          </a:solidFill>
          <a:ln w="12700">
            <a:solidFill>
              <a:srgbClr val="C62828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447288" y="2898648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000000"/>
                </a:solidFill>
              </a:rPr>
              <a:t>📋</a:t>
            </a:r>
            <a:endParaRPr lang="en-US" sz="2000" dirty="0"/>
          </a:p>
        </p:txBody>
      </p:sp>
      <p:sp>
        <p:nvSpPr>
          <p:cNvPr id="28" name="Text 26"/>
          <p:cNvSpPr/>
          <p:nvPr/>
        </p:nvSpPr>
        <p:spPr>
          <a:xfrm>
            <a:off x="3447288" y="2898648"/>
            <a:ext cx="2331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C62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Evaluaciones Inst.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3474720" y="3310128"/>
            <a:ext cx="2286000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1A25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Entre cursantes (4 indicadores)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1A25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Cursante → Docente (13 indicadores)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1A25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Escala 1-5 con observaciones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1A25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Resultados por cursante + global</a:t>
            </a:r>
            <a:endParaRPr lang="en-US" sz="1050" dirty="0"/>
          </a:p>
        </p:txBody>
      </p:sp>
      <p:sp>
        <p:nvSpPr>
          <p:cNvPr id="30" name="Shape 28"/>
          <p:cNvSpPr/>
          <p:nvPr/>
        </p:nvSpPr>
        <p:spPr>
          <a:xfrm>
            <a:off x="6025896" y="2852928"/>
            <a:ext cx="2743200" cy="1691640"/>
          </a:xfrm>
          <a:prstGeom prst="rect">
            <a:avLst/>
          </a:prstGeom>
          <a:solidFill>
            <a:srgbClr val="F0F4F8"/>
          </a:solidFill>
          <a:ln w="12700">
            <a:solidFill>
              <a:srgbClr val="E8ECF2"/>
            </a:solidFill>
            <a:prstDash val="solid"/>
          </a:ln>
          <a:effectLst>
            <a:outerShdw blurRad="101600" dist="38100" dir="8100000" algn="bl" rotWithShape="0">
              <a:srgbClr val="000000">
                <a:alpha val="13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6025896" y="2852928"/>
            <a:ext cx="292608" cy="1691640"/>
          </a:xfrm>
          <a:prstGeom prst="rect">
            <a:avLst/>
          </a:prstGeom>
          <a:solidFill>
            <a:srgbClr val="5A6A80"/>
          </a:solidFill>
          <a:ln w="12700">
            <a:solidFill>
              <a:srgbClr val="5A6A80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345936" y="2898648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000000"/>
                </a:solidFill>
              </a:rPr>
              <a:t>📐</a:t>
            </a:r>
            <a:endParaRPr lang="en-US" sz="2000" dirty="0"/>
          </a:p>
        </p:txBody>
      </p:sp>
      <p:sp>
        <p:nvSpPr>
          <p:cNvPr id="33" name="Text 31"/>
          <p:cNvSpPr/>
          <p:nvPr/>
        </p:nvSpPr>
        <p:spPr>
          <a:xfrm>
            <a:off x="6345936" y="2898648"/>
            <a:ext cx="2331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5A6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Planificación</a:t>
            </a:r>
            <a:endParaRPr lang="en-US" sz="1300" dirty="0"/>
          </a:p>
        </p:txBody>
      </p:sp>
      <p:sp>
        <p:nvSpPr>
          <p:cNvPr id="34" name="Text 32"/>
          <p:cNvSpPr/>
          <p:nvPr/>
        </p:nvSpPr>
        <p:spPr>
          <a:xfrm>
            <a:off x="6373368" y="3310128"/>
            <a:ext cx="2286000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1A25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Docente sube sílabo / planificación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1A25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Jefe aprueba o rechaza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1A25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Estado: Pendiente/Aprobado/Rechazado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1A25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Historial por materia</a:t>
            </a:r>
            <a:endParaRPr lang="en-US" sz="10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03366"/>
          </a:solidFill>
          <a:ln w="12700">
            <a:solidFill>
              <a:srgbClr val="00336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777240"/>
            <a:ext cx="9144000" cy="64008"/>
          </a:xfrm>
          <a:prstGeom prst="rect">
            <a:avLst/>
          </a:prstGeom>
          <a:solidFill>
            <a:srgbClr val="FF6600"/>
          </a:solidFill>
          <a:ln w="12700">
            <a:solidFill>
              <a:srgbClr val="FF660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109728"/>
            <a:ext cx="8412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Calendario de Clases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274320" y="960120"/>
            <a:ext cx="5120640" cy="3886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CF2"/>
            </a:solidFill>
            <a:prstDash val="solid"/>
          </a:ln>
          <a:effectLst>
            <a:outerShdw blurRad="101600" dist="38100" dir="8100000" algn="bl" rotWithShape="0">
              <a:srgbClr val="000000">
                <a:alpha val="13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74320" y="960120"/>
            <a:ext cx="5120640" cy="502920"/>
          </a:xfrm>
          <a:prstGeom prst="rect">
            <a:avLst/>
          </a:prstGeom>
          <a:solidFill>
            <a:srgbClr val="003366"/>
          </a:solidFill>
          <a:ln w="12700">
            <a:solidFill>
              <a:srgbClr val="00336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20040" y="1005840"/>
            <a:ext cx="502920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◀   Abril 2026   ▶        📅 Mes   📋 Lista     Hoy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74320" y="1463040"/>
            <a:ext cx="731520" cy="320040"/>
          </a:xfrm>
          <a:prstGeom prst="rect">
            <a:avLst/>
          </a:prstGeom>
          <a:solidFill>
            <a:srgbClr val="F7F9FC"/>
          </a:solidFill>
          <a:ln w="6350">
            <a:solidFill>
              <a:srgbClr val="E8ECF2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74320" y="1490472"/>
            <a:ext cx="731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6B7A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Dom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1005840" y="1463040"/>
            <a:ext cx="731520" cy="320040"/>
          </a:xfrm>
          <a:prstGeom prst="rect">
            <a:avLst/>
          </a:prstGeom>
          <a:solidFill>
            <a:srgbClr val="F7F9FC"/>
          </a:solidFill>
          <a:ln w="6350">
            <a:solidFill>
              <a:srgbClr val="E8ECF2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005840" y="1490472"/>
            <a:ext cx="731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6B7A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Lun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1737360" y="1463040"/>
            <a:ext cx="731520" cy="320040"/>
          </a:xfrm>
          <a:prstGeom prst="rect">
            <a:avLst/>
          </a:prstGeom>
          <a:solidFill>
            <a:srgbClr val="F7F9FC"/>
          </a:solidFill>
          <a:ln w="6350">
            <a:solidFill>
              <a:srgbClr val="E8ECF2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737360" y="1490472"/>
            <a:ext cx="731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6B7A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2468880" y="1463040"/>
            <a:ext cx="731520" cy="320040"/>
          </a:xfrm>
          <a:prstGeom prst="rect">
            <a:avLst/>
          </a:prstGeom>
          <a:solidFill>
            <a:srgbClr val="F7F9FC"/>
          </a:solidFill>
          <a:ln w="6350">
            <a:solidFill>
              <a:srgbClr val="E8ECF2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468880" y="1490472"/>
            <a:ext cx="731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6B7A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Mié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3200400" y="1463040"/>
            <a:ext cx="731520" cy="320040"/>
          </a:xfrm>
          <a:prstGeom prst="rect">
            <a:avLst/>
          </a:prstGeom>
          <a:solidFill>
            <a:srgbClr val="F7F9FC"/>
          </a:solidFill>
          <a:ln w="6350">
            <a:solidFill>
              <a:srgbClr val="E8ECF2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200400" y="1490472"/>
            <a:ext cx="731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6B7A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Jue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3931920" y="1463040"/>
            <a:ext cx="731520" cy="320040"/>
          </a:xfrm>
          <a:prstGeom prst="rect">
            <a:avLst/>
          </a:prstGeom>
          <a:solidFill>
            <a:srgbClr val="F7F9FC"/>
          </a:solidFill>
          <a:ln w="6350">
            <a:solidFill>
              <a:srgbClr val="E8ECF2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931920" y="1490472"/>
            <a:ext cx="731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6B7A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Vie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4663440" y="1463040"/>
            <a:ext cx="731520" cy="320040"/>
          </a:xfrm>
          <a:prstGeom prst="rect">
            <a:avLst/>
          </a:prstGeom>
          <a:solidFill>
            <a:srgbClr val="F7F9FC"/>
          </a:solidFill>
          <a:ln w="6350">
            <a:solidFill>
              <a:srgbClr val="E8ECF2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663440" y="1490472"/>
            <a:ext cx="731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6B7A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Sáb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274320" y="1783080"/>
            <a:ext cx="731520" cy="713232"/>
          </a:xfrm>
          <a:prstGeom prst="rect">
            <a:avLst/>
          </a:prstGeom>
          <a:solidFill>
            <a:srgbClr val="FFFFFF"/>
          </a:solidFill>
          <a:ln w="6350">
            <a:solidFill>
              <a:srgbClr val="E8ECF2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10896" y="1810512"/>
            <a:ext cx="182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1A25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850" dirty="0"/>
          </a:p>
        </p:txBody>
      </p:sp>
      <p:sp>
        <p:nvSpPr>
          <p:cNvPr id="24" name="Shape 22"/>
          <p:cNvSpPr/>
          <p:nvPr/>
        </p:nvSpPr>
        <p:spPr>
          <a:xfrm>
            <a:off x="1005840" y="1783080"/>
            <a:ext cx="731520" cy="713232"/>
          </a:xfrm>
          <a:prstGeom prst="rect">
            <a:avLst/>
          </a:prstGeom>
          <a:solidFill>
            <a:srgbClr val="FFFFFF"/>
          </a:solidFill>
          <a:ln w="6350">
            <a:solidFill>
              <a:srgbClr val="E8ECF2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1042416" y="1810512"/>
            <a:ext cx="182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1A25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850" dirty="0"/>
          </a:p>
        </p:txBody>
      </p:sp>
      <p:sp>
        <p:nvSpPr>
          <p:cNvPr id="26" name="Shape 24"/>
          <p:cNvSpPr/>
          <p:nvPr/>
        </p:nvSpPr>
        <p:spPr>
          <a:xfrm>
            <a:off x="1024128" y="2020824"/>
            <a:ext cx="667512" cy="402336"/>
          </a:xfrm>
          <a:prstGeom prst="rect">
            <a:avLst/>
          </a:prstGeom>
          <a:solidFill>
            <a:srgbClr val="E3F2FD"/>
          </a:solidFill>
          <a:ln w="6350">
            <a:solidFill>
              <a:srgbClr val="E8ECF2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1024128" y="2029968"/>
            <a:ext cx="66751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750" dirty="0">
                <a:solidFill>
                  <a:srgbClr val="1A25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09:00</a:t>
            </a:r>
            <a:endParaRPr lang="en-US" sz="750" dirty="0"/>
          </a:p>
          <a:p>
            <a:pPr marL="0" indent="0">
              <a:buNone/>
            </a:pPr>
            <a:r>
              <a:rPr lang="en-US" sz="750" dirty="0">
                <a:solidFill>
                  <a:srgbClr val="1A25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Derecho</a:t>
            </a:r>
            <a:endParaRPr lang="en-US" sz="750" dirty="0"/>
          </a:p>
        </p:txBody>
      </p:sp>
      <p:sp>
        <p:nvSpPr>
          <p:cNvPr id="28" name="Shape 26"/>
          <p:cNvSpPr/>
          <p:nvPr/>
        </p:nvSpPr>
        <p:spPr>
          <a:xfrm>
            <a:off x="1737360" y="1783080"/>
            <a:ext cx="731520" cy="713232"/>
          </a:xfrm>
          <a:prstGeom prst="rect">
            <a:avLst/>
          </a:prstGeom>
          <a:solidFill>
            <a:srgbClr val="FFFFFF"/>
          </a:solidFill>
          <a:ln w="6350">
            <a:solidFill>
              <a:srgbClr val="E8ECF2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1773936" y="1810512"/>
            <a:ext cx="182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1A25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850" dirty="0"/>
          </a:p>
        </p:txBody>
      </p:sp>
      <p:sp>
        <p:nvSpPr>
          <p:cNvPr id="30" name="Shape 28"/>
          <p:cNvSpPr/>
          <p:nvPr/>
        </p:nvSpPr>
        <p:spPr>
          <a:xfrm>
            <a:off x="2468880" y="1783080"/>
            <a:ext cx="731520" cy="713232"/>
          </a:xfrm>
          <a:prstGeom prst="rect">
            <a:avLst/>
          </a:prstGeom>
          <a:solidFill>
            <a:srgbClr val="FFFFFF"/>
          </a:solidFill>
          <a:ln w="6350">
            <a:solidFill>
              <a:srgbClr val="E8ECF2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2505456" y="1810512"/>
            <a:ext cx="182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1A25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850" dirty="0"/>
          </a:p>
        </p:txBody>
      </p:sp>
      <p:sp>
        <p:nvSpPr>
          <p:cNvPr id="32" name="Shape 30"/>
          <p:cNvSpPr/>
          <p:nvPr/>
        </p:nvSpPr>
        <p:spPr>
          <a:xfrm>
            <a:off x="2487168" y="2020824"/>
            <a:ext cx="667512" cy="402336"/>
          </a:xfrm>
          <a:prstGeom prst="rect">
            <a:avLst/>
          </a:prstGeom>
          <a:solidFill>
            <a:srgbClr val="F3E5F5"/>
          </a:solidFill>
          <a:ln w="6350">
            <a:solidFill>
              <a:srgbClr val="E8ECF2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2487168" y="2029968"/>
            <a:ext cx="66751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750" dirty="0">
                <a:solidFill>
                  <a:srgbClr val="1A25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14:00</a:t>
            </a:r>
            <a:endParaRPr lang="en-US" sz="750" dirty="0"/>
          </a:p>
          <a:p>
            <a:pPr marL="0" indent="0">
              <a:buNone/>
            </a:pPr>
            <a:r>
              <a:rPr lang="en-US" sz="750" dirty="0">
                <a:solidFill>
                  <a:srgbClr val="1A25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Estrategia</a:t>
            </a:r>
            <a:endParaRPr lang="en-US" sz="750" dirty="0"/>
          </a:p>
        </p:txBody>
      </p:sp>
      <p:sp>
        <p:nvSpPr>
          <p:cNvPr id="34" name="Shape 32"/>
          <p:cNvSpPr/>
          <p:nvPr/>
        </p:nvSpPr>
        <p:spPr>
          <a:xfrm>
            <a:off x="3200400" y="1783080"/>
            <a:ext cx="731520" cy="713232"/>
          </a:xfrm>
          <a:prstGeom prst="rect">
            <a:avLst/>
          </a:prstGeom>
          <a:solidFill>
            <a:srgbClr val="FFFFFF"/>
          </a:solidFill>
          <a:ln w="6350">
            <a:solidFill>
              <a:srgbClr val="E8ECF2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3236976" y="1810512"/>
            <a:ext cx="182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1A25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850" dirty="0"/>
          </a:p>
        </p:txBody>
      </p:sp>
      <p:sp>
        <p:nvSpPr>
          <p:cNvPr id="36" name="Shape 34"/>
          <p:cNvSpPr/>
          <p:nvPr/>
        </p:nvSpPr>
        <p:spPr>
          <a:xfrm>
            <a:off x="3931920" y="1783080"/>
            <a:ext cx="731520" cy="713232"/>
          </a:xfrm>
          <a:prstGeom prst="rect">
            <a:avLst/>
          </a:prstGeom>
          <a:solidFill>
            <a:srgbClr val="FFFFFF"/>
          </a:solidFill>
          <a:ln w="6350">
            <a:solidFill>
              <a:srgbClr val="E8ECF2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3968496" y="1810512"/>
            <a:ext cx="182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1A25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850" dirty="0"/>
          </a:p>
        </p:txBody>
      </p:sp>
      <p:sp>
        <p:nvSpPr>
          <p:cNvPr id="38" name="Shape 36"/>
          <p:cNvSpPr/>
          <p:nvPr/>
        </p:nvSpPr>
        <p:spPr>
          <a:xfrm>
            <a:off x="3950208" y="2020824"/>
            <a:ext cx="667512" cy="402336"/>
          </a:xfrm>
          <a:prstGeom prst="rect">
            <a:avLst/>
          </a:prstGeom>
          <a:solidFill>
            <a:srgbClr val="E8F5E9"/>
          </a:solidFill>
          <a:ln w="6350">
            <a:solidFill>
              <a:srgbClr val="E8ECF2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3950208" y="2029968"/>
            <a:ext cx="66751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750" dirty="0">
                <a:solidFill>
                  <a:srgbClr val="1A25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08:00</a:t>
            </a:r>
            <a:endParaRPr lang="en-US" sz="750" dirty="0"/>
          </a:p>
          <a:p>
            <a:pPr marL="0" indent="0">
              <a:buNone/>
            </a:pPr>
            <a:r>
              <a:rPr lang="en-US" sz="750" dirty="0">
                <a:solidFill>
                  <a:srgbClr val="1A25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Geopolítica</a:t>
            </a:r>
            <a:endParaRPr lang="en-US" sz="750" dirty="0"/>
          </a:p>
        </p:txBody>
      </p:sp>
      <p:sp>
        <p:nvSpPr>
          <p:cNvPr id="40" name="Shape 38"/>
          <p:cNvSpPr/>
          <p:nvPr/>
        </p:nvSpPr>
        <p:spPr>
          <a:xfrm>
            <a:off x="4663440" y="1783080"/>
            <a:ext cx="731520" cy="713232"/>
          </a:xfrm>
          <a:prstGeom prst="rect">
            <a:avLst/>
          </a:prstGeom>
          <a:solidFill>
            <a:srgbClr val="FFFFFF"/>
          </a:solidFill>
          <a:ln w="6350">
            <a:solidFill>
              <a:srgbClr val="E8ECF2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4700016" y="1810512"/>
            <a:ext cx="182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1A25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850" dirty="0"/>
          </a:p>
        </p:txBody>
      </p:sp>
      <p:sp>
        <p:nvSpPr>
          <p:cNvPr id="42" name="Shape 40"/>
          <p:cNvSpPr/>
          <p:nvPr/>
        </p:nvSpPr>
        <p:spPr>
          <a:xfrm>
            <a:off x="274320" y="2496312"/>
            <a:ext cx="731520" cy="713232"/>
          </a:xfrm>
          <a:prstGeom prst="rect">
            <a:avLst/>
          </a:prstGeom>
          <a:solidFill>
            <a:srgbClr val="FFFFFF"/>
          </a:solidFill>
          <a:ln w="6350">
            <a:solidFill>
              <a:srgbClr val="E8ECF2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310896" y="2523744"/>
            <a:ext cx="182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1A25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850" dirty="0"/>
          </a:p>
        </p:txBody>
      </p:sp>
      <p:sp>
        <p:nvSpPr>
          <p:cNvPr id="44" name="Shape 42"/>
          <p:cNvSpPr/>
          <p:nvPr/>
        </p:nvSpPr>
        <p:spPr>
          <a:xfrm>
            <a:off x="1005840" y="2496312"/>
            <a:ext cx="731520" cy="713232"/>
          </a:xfrm>
          <a:prstGeom prst="rect">
            <a:avLst/>
          </a:prstGeom>
          <a:solidFill>
            <a:srgbClr val="FFFFFF"/>
          </a:solidFill>
          <a:ln w="6350">
            <a:solidFill>
              <a:srgbClr val="E8ECF2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1042416" y="2523744"/>
            <a:ext cx="182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1A25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850" dirty="0"/>
          </a:p>
        </p:txBody>
      </p:sp>
      <p:sp>
        <p:nvSpPr>
          <p:cNvPr id="46" name="Shape 44"/>
          <p:cNvSpPr/>
          <p:nvPr/>
        </p:nvSpPr>
        <p:spPr>
          <a:xfrm>
            <a:off x="1737360" y="2496312"/>
            <a:ext cx="731520" cy="713232"/>
          </a:xfrm>
          <a:prstGeom prst="rect">
            <a:avLst/>
          </a:prstGeom>
          <a:solidFill>
            <a:srgbClr val="E8F0FB"/>
          </a:solidFill>
          <a:ln w="6350">
            <a:solidFill>
              <a:srgbClr val="E8ECF2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1773936" y="2523744"/>
            <a:ext cx="182880" cy="182880"/>
          </a:xfrm>
          <a:prstGeom prst="rect">
            <a:avLst/>
          </a:prstGeom>
          <a:solidFill>
            <a:srgbClr val="003366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850" dirty="0"/>
          </a:p>
        </p:txBody>
      </p:sp>
      <p:sp>
        <p:nvSpPr>
          <p:cNvPr id="48" name="Shape 46"/>
          <p:cNvSpPr/>
          <p:nvPr/>
        </p:nvSpPr>
        <p:spPr>
          <a:xfrm>
            <a:off x="2468880" y="2496312"/>
            <a:ext cx="731520" cy="713232"/>
          </a:xfrm>
          <a:prstGeom prst="rect">
            <a:avLst/>
          </a:prstGeom>
          <a:solidFill>
            <a:srgbClr val="FFFFFF"/>
          </a:solidFill>
          <a:ln w="6350">
            <a:solidFill>
              <a:srgbClr val="E8ECF2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2505456" y="2523744"/>
            <a:ext cx="182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1A25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850" dirty="0"/>
          </a:p>
        </p:txBody>
      </p:sp>
      <p:sp>
        <p:nvSpPr>
          <p:cNvPr id="50" name="Shape 48"/>
          <p:cNvSpPr/>
          <p:nvPr/>
        </p:nvSpPr>
        <p:spPr>
          <a:xfrm>
            <a:off x="3200400" y="2496312"/>
            <a:ext cx="731520" cy="713232"/>
          </a:xfrm>
          <a:prstGeom prst="rect">
            <a:avLst/>
          </a:prstGeom>
          <a:solidFill>
            <a:srgbClr val="FFFFFF"/>
          </a:solidFill>
          <a:ln w="6350">
            <a:solidFill>
              <a:srgbClr val="E8ECF2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3236976" y="2523744"/>
            <a:ext cx="182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1A25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850" dirty="0"/>
          </a:p>
        </p:txBody>
      </p:sp>
      <p:sp>
        <p:nvSpPr>
          <p:cNvPr id="52" name="Shape 50"/>
          <p:cNvSpPr/>
          <p:nvPr/>
        </p:nvSpPr>
        <p:spPr>
          <a:xfrm>
            <a:off x="3931920" y="2496312"/>
            <a:ext cx="731520" cy="713232"/>
          </a:xfrm>
          <a:prstGeom prst="rect">
            <a:avLst/>
          </a:prstGeom>
          <a:solidFill>
            <a:srgbClr val="FFFFFF"/>
          </a:solidFill>
          <a:ln w="6350">
            <a:solidFill>
              <a:srgbClr val="E8ECF2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3968496" y="2523744"/>
            <a:ext cx="182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1A25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850" dirty="0"/>
          </a:p>
        </p:txBody>
      </p:sp>
      <p:sp>
        <p:nvSpPr>
          <p:cNvPr id="54" name="Shape 52"/>
          <p:cNvSpPr/>
          <p:nvPr/>
        </p:nvSpPr>
        <p:spPr>
          <a:xfrm>
            <a:off x="4663440" y="2496312"/>
            <a:ext cx="731520" cy="713232"/>
          </a:xfrm>
          <a:prstGeom prst="rect">
            <a:avLst/>
          </a:prstGeom>
          <a:solidFill>
            <a:srgbClr val="FFFFFF"/>
          </a:solidFill>
          <a:ln w="6350">
            <a:solidFill>
              <a:srgbClr val="E8ECF2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4700016" y="2523744"/>
            <a:ext cx="182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1A25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850" dirty="0"/>
          </a:p>
        </p:txBody>
      </p:sp>
      <p:sp>
        <p:nvSpPr>
          <p:cNvPr id="56" name="Shape 54"/>
          <p:cNvSpPr/>
          <p:nvPr/>
        </p:nvSpPr>
        <p:spPr>
          <a:xfrm>
            <a:off x="274320" y="3209544"/>
            <a:ext cx="731520" cy="713232"/>
          </a:xfrm>
          <a:prstGeom prst="rect">
            <a:avLst/>
          </a:prstGeom>
          <a:solidFill>
            <a:srgbClr val="FFFFFF"/>
          </a:solidFill>
          <a:ln w="6350">
            <a:solidFill>
              <a:srgbClr val="E8ECF2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310896" y="3236976"/>
            <a:ext cx="182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1A25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850" dirty="0"/>
          </a:p>
        </p:txBody>
      </p:sp>
      <p:sp>
        <p:nvSpPr>
          <p:cNvPr id="58" name="Shape 56"/>
          <p:cNvSpPr/>
          <p:nvPr/>
        </p:nvSpPr>
        <p:spPr>
          <a:xfrm>
            <a:off x="1005840" y="3209544"/>
            <a:ext cx="731520" cy="713232"/>
          </a:xfrm>
          <a:prstGeom prst="rect">
            <a:avLst/>
          </a:prstGeom>
          <a:solidFill>
            <a:srgbClr val="FFFFFF"/>
          </a:solidFill>
          <a:ln w="6350">
            <a:solidFill>
              <a:srgbClr val="E8ECF2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1042416" y="3236976"/>
            <a:ext cx="182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1A25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850" dirty="0"/>
          </a:p>
        </p:txBody>
      </p:sp>
      <p:sp>
        <p:nvSpPr>
          <p:cNvPr id="60" name="Shape 58"/>
          <p:cNvSpPr/>
          <p:nvPr/>
        </p:nvSpPr>
        <p:spPr>
          <a:xfrm>
            <a:off x="1737360" y="3209544"/>
            <a:ext cx="731520" cy="713232"/>
          </a:xfrm>
          <a:prstGeom prst="rect">
            <a:avLst/>
          </a:prstGeom>
          <a:solidFill>
            <a:srgbClr val="FFFFFF"/>
          </a:solidFill>
          <a:ln w="6350">
            <a:solidFill>
              <a:srgbClr val="E8ECF2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1773936" y="3236976"/>
            <a:ext cx="182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1A25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</a:t>
            </a:r>
            <a:endParaRPr lang="en-US" sz="850" dirty="0"/>
          </a:p>
        </p:txBody>
      </p:sp>
      <p:sp>
        <p:nvSpPr>
          <p:cNvPr id="62" name="Shape 60"/>
          <p:cNvSpPr/>
          <p:nvPr/>
        </p:nvSpPr>
        <p:spPr>
          <a:xfrm>
            <a:off x="2468880" y="3209544"/>
            <a:ext cx="731520" cy="713232"/>
          </a:xfrm>
          <a:prstGeom prst="rect">
            <a:avLst/>
          </a:prstGeom>
          <a:solidFill>
            <a:srgbClr val="FFFFFF"/>
          </a:solidFill>
          <a:ln w="6350">
            <a:solidFill>
              <a:srgbClr val="E8ECF2"/>
            </a:solidFill>
            <a:prstDash val="solid"/>
          </a:ln>
        </p:spPr>
      </p:sp>
      <p:sp>
        <p:nvSpPr>
          <p:cNvPr id="63" name="Text 61"/>
          <p:cNvSpPr/>
          <p:nvPr/>
        </p:nvSpPr>
        <p:spPr>
          <a:xfrm>
            <a:off x="2505456" y="3236976"/>
            <a:ext cx="182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1A25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</a:t>
            </a:r>
            <a:endParaRPr lang="en-US" sz="850" dirty="0"/>
          </a:p>
        </p:txBody>
      </p:sp>
      <p:sp>
        <p:nvSpPr>
          <p:cNvPr id="64" name="Shape 62"/>
          <p:cNvSpPr/>
          <p:nvPr/>
        </p:nvSpPr>
        <p:spPr>
          <a:xfrm>
            <a:off x="3200400" y="3209544"/>
            <a:ext cx="731520" cy="713232"/>
          </a:xfrm>
          <a:prstGeom prst="rect">
            <a:avLst/>
          </a:prstGeom>
          <a:solidFill>
            <a:srgbClr val="FFFFFF"/>
          </a:solidFill>
          <a:ln w="6350">
            <a:solidFill>
              <a:srgbClr val="E8ECF2"/>
            </a:solidFill>
            <a:prstDash val="solid"/>
          </a:ln>
        </p:spPr>
      </p:sp>
      <p:sp>
        <p:nvSpPr>
          <p:cNvPr id="65" name="Text 63"/>
          <p:cNvSpPr/>
          <p:nvPr/>
        </p:nvSpPr>
        <p:spPr>
          <a:xfrm>
            <a:off x="3236976" y="3236976"/>
            <a:ext cx="182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1A25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</a:t>
            </a:r>
            <a:endParaRPr lang="en-US" sz="850" dirty="0"/>
          </a:p>
        </p:txBody>
      </p:sp>
      <p:sp>
        <p:nvSpPr>
          <p:cNvPr id="66" name="Shape 64"/>
          <p:cNvSpPr/>
          <p:nvPr/>
        </p:nvSpPr>
        <p:spPr>
          <a:xfrm>
            <a:off x="3931920" y="3209544"/>
            <a:ext cx="731520" cy="713232"/>
          </a:xfrm>
          <a:prstGeom prst="rect">
            <a:avLst/>
          </a:prstGeom>
          <a:solidFill>
            <a:srgbClr val="FFFFFF"/>
          </a:solidFill>
          <a:ln w="6350">
            <a:solidFill>
              <a:srgbClr val="E8ECF2"/>
            </a:solidFill>
            <a:prstDash val="solid"/>
          </a:ln>
        </p:spPr>
      </p:sp>
      <p:sp>
        <p:nvSpPr>
          <p:cNvPr id="67" name="Text 65"/>
          <p:cNvSpPr/>
          <p:nvPr/>
        </p:nvSpPr>
        <p:spPr>
          <a:xfrm>
            <a:off x="3968496" y="3236976"/>
            <a:ext cx="182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1A25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</a:t>
            </a:r>
            <a:endParaRPr lang="en-US" sz="850" dirty="0"/>
          </a:p>
        </p:txBody>
      </p:sp>
      <p:sp>
        <p:nvSpPr>
          <p:cNvPr id="68" name="Shape 66"/>
          <p:cNvSpPr/>
          <p:nvPr/>
        </p:nvSpPr>
        <p:spPr>
          <a:xfrm>
            <a:off x="5669280" y="1005840"/>
            <a:ext cx="3200400" cy="804672"/>
          </a:xfrm>
          <a:prstGeom prst="rect">
            <a:avLst/>
          </a:prstGeom>
          <a:solidFill>
            <a:srgbClr val="FFFFFF"/>
          </a:solidFill>
          <a:ln w="12700">
            <a:solidFill>
              <a:srgbClr val="E8ECF2"/>
            </a:solidFill>
            <a:prstDash val="solid"/>
          </a:ln>
          <a:effectLst>
            <a:outerShdw blurRad="101600" dist="38100" dir="8100000" algn="bl" rotWithShape="0">
              <a:srgbClr val="000000">
                <a:alpha val="13000"/>
              </a:srgbClr>
            </a:outerShdw>
          </a:effectLst>
        </p:spPr>
      </p:sp>
      <p:sp>
        <p:nvSpPr>
          <p:cNvPr id="69" name="Shape 67"/>
          <p:cNvSpPr/>
          <p:nvPr/>
        </p:nvSpPr>
        <p:spPr>
          <a:xfrm>
            <a:off x="5669280" y="1005840"/>
            <a:ext cx="502920" cy="804672"/>
          </a:xfrm>
          <a:prstGeom prst="rect">
            <a:avLst/>
          </a:prstGeom>
          <a:solidFill>
            <a:srgbClr val="003366"/>
          </a:solidFill>
          <a:ln w="12700">
            <a:solidFill>
              <a:srgbClr val="003366"/>
            </a:solidFill>
            <a:prstDash val="solid"/>
          </a:ln>
        </p:spPr>
      </p:sp>
      <p:sp>
        <p:nvSpPr>
          <p:cNvPr id="70" name="Text 68"/>
          <p:cNvSpPr/>
          <p:nvPr/>
        </p:nvSpPr>
        <p:spPr>
          <a:xfrm>
            <a:off x="5669280" y="1133856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00000"/>
                </a:solidFill>
              </a:rPr>
              <a:t>📅</a:t>
            </a:r>
            <a:endParaRPr lang="en-US" sz="1800" dirty="0"/>
          </a:p>
        </p:txBody>
      </p:sp>
      <p:sp>
        <p:nvSpPr>
          <p:cNvPr id="71" name="Text 69"/>
          <p:cNvSpPr/>
          <p:nvPr/>
        </p:nvSpPr>
        <p:spPr>
          <a:xfrm>
            <a:off x="6236208" y="1051560"/>
            <a:ext cx="2514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33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Vista Mes</a:t>
            </a:r>
            <a:endParaRPr lang="en-US" sz="1200" dirty="0"/>
          </a:p>
        </p:txBody>
      </p:sp>
      <p:sp>
        <p:nvSpPr>
          <p:cNvPr id="72" name="Text 70"/>
          <p:cNvSpPr/>
          <p:nvPr/>
        </p:nvSpPr>
        <p:spPr>
          <a:xfrm>
            <a:off x="6236208" y="1325880"/>
            <a:ext cx="2514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B7A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Grilla interactiva. Clic en día para ver detalle de clases.</a:t>
            </a:r>
            <a:endParaRPr lang="en-US" sz="1050" dirty="0"/>
          </a:p>
        </p:txBody>
      </p:sp>
      <p:sp>
        <p:nvSpPr>
          <p:cNvPr id="73" name="Shape 71"/>
          <p:cNvSpPr/>
          <p:nvPr/>
        </p:nvSpPr>
        <p:spPr>
          <a:xfrm>
            <a:off x="5669280" y="1965960"/>
            <a:ext cx="3200400" cy="804672"/>
          </a:xfrm>
          <a:prstGeom prst="rect">
            <a:avLst/>
          </a:prstGeom>
          <a:solidFill>
            <a:srgbClr val="FFFFFF"/>
          </a:solidFill>
          <a:ln w="12700">
            <a:solidFill>
              <a:srgbClr val="E8ECF2"/>
            </a:solidFill>
            <a:prstDash val="solid"/>
          </a:ln>
          <a:effectLst>
            <a:outerShdw blurRad="101600" dist="38100" dir="8100000" algn="bl" rotWithShape="0">
              <a:srgbClr val="000000">
                <a:alpha val="13000"/>
              </a:srgbClr>
            </a:outerShdw>
          </a:effectLst>
        </p:spPr>
      </p:sp>
      <p:sp>
        <p:nvSpPr>
          <p:cNvPr id="74" name="Shape 72"/>
          <p:cNvSpPr/>
          <p:nvPr/>
        </p:nvSpPr>
        <p:spPr>
          <a:xfrm>
            <a:off x="5669280" y="1965960"/>
            <a:ext cx="502920" cy="804672"/>
          </a:xfrm>
          <a:prstGeom prst="rect">
            <a:avLst/>
          </a:prstGeom>
          <a:solidFill>
            <a:srgbClr val="003366"/>
          </a:solidFill>
          <a:ln w="12700">
            <a:solidFill>
              <a:srgbClr val="003366"/>
            </a:solidFill>
            <a:prstDash val="solid"/>
          </a:ln>
        </p:spPr>
      </p:sp>
      <p:sp>
        <p:nvSpPr>
          <p:cNvPr id="75" name="Text 73"/>
          <p:cNvSpPr/>
          <p:nvPr/>
        </p:nvSpPr>
        <p:spPr>
          <a:xfrm>
            <a:off x="5669280" y="2093976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00000"/>
                </a:solidFill>
              </a:rPr>
              <a:t>📋</a:t>
            </a:r>
            <a:endParaRPr lang="en-US" sz="1800" dirty="0"/>
          </a:p>
        </p:txBody>
      </p:sp>
      <p:sp>
        <p:nvSpPr>
          <p:cNvPr id="76" name="Text 74"/>
          <p:cNvSpPr/>
          <p:nvPr/>
        </p:nvSpPr>
        <p:spPr>
          <a:xfrm>
            <a:off x="6236208" y="2011680"/>
            <a:ext cx="2514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33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Vista Lista</a:t>
            </a:r>
            <a:endParaRPr lang="en-US" sz="1200" dirty="0"/>
          </a:p>
        </p:txBody>
      </p:sp>
      <p:sp>
        <p:nvSpPr>
          <p:cNvPr id="77" name="Text 75"/>
          <p:cNvSpPr/>
          <p:nvPr/>
        </p:nvSpPr>
        <p:spPr>
          <a:xfrm>
            <a:off x="6236208" y="2286000"/>
            <a:ext cx="2514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B7A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Clases ordenadas cronológicas con hora, aula y docente.</a:t>
            </a:r>
            <a:endParaRPr lang="en-US" sz="1050" dirty="0"/>
          </a:p>
        </p:txBody>
      </p:sp>
      <p:sp>
        <p:nvSpPr>
          <p:cNvPr id="78" name="Shape 76"/>
          <p:cNvSpPr/>
          <p:nvPr/>
        </p:nvSpPr>
        <p:spPr>
          <a:xfrm>
            <a:off x="5669280" y="2926080"/>
            <a:ext cx="3200400" cy="804672"/>
          </a:xfrm>
          <a:prstGeom prst="rect">
            <a:avLst/>
          </a:prstGeom>
          <a:solidFill>
            <a:srgbClr val="FFFFFF"/>
          </a:solidFill>
          <a:ln w="12700">
            <a:solidFill>
              <a:srgbClr val="E8ECF2"/>
            </a:solidFill>
            <a:prstDash val="solid"/>
          </a:ln>
          <a:effectLst>
            <a:outerShdw blurRad="101600" dist="38100" dir="8100000" algn="bl" rotWithShape="0">
              <a:srgbClr val="000000">
                <a:alpha val="13000"/>
              </a:srgbClr>
            </a:outerShdw>
          </a:effectLst>
        </p:spPr>
      </p:sp>
      <p:sp>
        <p:nvSpPr>
          <p:cNvPr id="79" name="Shape 77"/>
          <p:cNvSpPr/>
          <p:nvPr/>
        </p:nvSpPr>
        <p:spPr>
          <a:xfrm>
            <a:off x="5669280" y="2926080"/>
            <a:ext cx="502920" cy="804672"/>
          </a:xfrm>
          <a:prstGeom prst="rect">
            <a:avLst/>
          </a:prstGeom>
          <a:solidFill>
            <a:srgbClr val="003366"/>
          </a:solidFill>
          <a:ln w="12700">
            <a:solidFill>
              <a:srgbClr val="003366"/>
            </a:solidFill>
            <a:prstDash val="solid"/>
          </a:ln>
        </p:spPr>
      </p:sp>
      <p:sp>
        <p:nvSpPr>
          <p:cNvPr id="80" name="Text 78"/>
          <p:cNvSpPr/>
          <p:nvPr/>
        </p:nvSpPr>
        <p:spPr>
          <a:xfrm>
            <a:off x="5669280" y="3054096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00000"/>
                </a:solidFill>
              </a:rPr>
              <a:t>🔍</a:t>
            </a:r>
            <a:endParaRPr lang="en-US" sz="1800" dirty="0"/>
          </a:p>
        </p:txBody>
      </p:sp>
      <p:sp>
        <p:nvSpPr>
          <p:cNvPr id="81" name="Text 79"/>
          <p:cNvSpPr/>
          <p:nvPr/>
        </p:nvSpPr>
        <p:spPr>
          <a:xfrm>
            <a:off x="6236208" y="2971800"/>
            <a:ext cx="2514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33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Leyenda de colores</a:t>
            </a:r>
            <a:endParaRPr lang="en-US" sz="1200" dirty="0"/>
          </a:p>
        </p:txBody>
      </p:sp>
      <p:sp>
        <p:nvSpPr>
          <p:cNvPr id="82" name="Text 80"/>
          <p:cNvSpPr/>
          <p:nvPr/>
        </p:nvSpPr>
        <p:spPr>
          <a:xfrm>
            <a:off x="6236208" y="3246120"/>
            <a:ext cx="2514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B7A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materia tiene un color único para identificación rápida.</a:t>
            </a:r>
            <a:endParaRPr lang="en-US" sz="1050" dirty="0"/>
          </a:p>
        </p:txBody>
      </p:sp>
      <p:sp>
        <p:nvSpPr>
          <p:cNvPr id="83" name="Shape 81"/>
          <p:cNvSpPr/>
          <p:nvPr/>
        </p:nvSpPr>
        <p:spPr>
          <a:xfrm>
            <a:off x="5669280" y="3886200"/>
            <a:ext cx="3200400" cy="804672"/>
          </a:xfrm>
          <a:prstGeom prst="rect">
            <a:avLst/>
          </a:prstGeom>
          <a:solidFill>
            <a:srgbClr val="FFFFFF"/>
          </a:solidFill>
          <a:ln w="12700">
            <a:solidFill>
              <a:srgbClr val="E8ECF2"/>
            </a:solidFill>
            <a:prstDash val="solid"/>
          </a:ln>
          <a:effectLst>
            <a:outerShdw blurRad="101600" dist="38100" dir="8100000" algn="bl" rotWithShape="0">
              <a:srgbClr val="000000">
                <a:alpha val="13000"/>
              </a:srgbClr>
            </a:outerShdw>
          </a:effectLst>
        </p:spPr>
      </p:sp>
      <p:sp>
        <p:nvSpPr>
          <p:cNvPr id="84" name="Shape 82"/>
          <p:cNvSpPr/>
          <p:nvPr/>
        </p:nvSpPr>
        <p:spPr>
          <a:xfrm>
            <a:off x="5669280" y="3886200"/>
            <a:ext cx="502920" cy="804672"/>
          </a:xfrm>
          <a:prstGeom prst="rect">
            <a:avLst/>
          </a:prstGeom>
          <a:solidFill>
            <a:srgbClr val="003366"/>
          </a:solidFill>
          <a:ln w="12700">
            <a:solidFill>
              <a:srgbClr val="003366"/>
            </a:solidFill>
            <a:prstDash val="solid"/>
          </a:ln>
        </p:spPr>
      </p:sp>
      <p:sp>
        <p:nvSpPr>
          <p:cNvPr id="85" name="Text 83"/>
          <p:cNvSpPr/>
          <p:nvPr/>
        </p:nvSpPr>
        <p:spPr>
          <a:xfrm>
            <a:off x="5669280" y="4014216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00000"/>
                </a:solidFill>
              </a:rPr>
              <a:t>👨‍🏫</a:t>
            </a:r>
            <a:endParaRPr lang="en-US" sz="1800" dirty="0"/>
          </a:p>
        </p:txBody>
      </p:sp>
      <p:sp>
        <p:nvSpPr>
          <p:cNvPr id="86" name="Text 84"/>
          <p:cNvSpPr/>
          <p:nvPr/>
        </p:nvSpPr>
        <p:spPr>
          <a:xfrm>
            <a:off x="6236208" y="3931920"/>
            <a:ext cx="2514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33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Docentes: todos los cursos</a:t>
            </a:r>
            <a:endParaRPr lang="en-US" sz="1200" dirty="0"/>
          </a:p>
        </p:txBody>
      </p:sp>
      <p:sp>
        <p:nvSpPr>
          <p:cNvPr id="87" name="Text 85"/>
          <p:cNvSpPr/>
          <p:nvPr/>
        </p:nvSpPr>
        <p:spPr>
          <a:xfrm>
            <a:off x="6236208" y="4206240"/>
            <a:ext cx="2514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B7A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 docentes ven horarios de TODOS los cursos del sistema.</a:t>
            </a:r>
            <a:endParaRPr lang="en-US" sz="10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03366"/>
          </a:solidFill>
          <a:ln w="12700">
            <a:solidFill>
              <a:srgbClr val="00336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777240"/>
            <a:ext cx="9144000" cy="64008"/>
          </a:xfrm>
          <a:prstGeom prst="rect">
            <a:avLst/>
          </a:prstGeom>
          <a:solidFill>
            <a:srgbClr val="FF6600"/>
          </a:solidFill>
          <a:ln w="12700">
            <a:solidFill>
              <a:srgbClr val="FF660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109728"/>
            <a:ext cx="8412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💰  Sistema de Finanzas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228600" y="960120"/>
            <a:ext cx="2057400" cy="1024128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  <a:effectLst>
            <a:outerShdw blurRad="101600" dist="38100" dir="8100000" algn="bl" rotWithShape="0">
              <a:srgbClr val="000000">
                <a:alpha val="13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320040" y="1024128"/>
            <a:ext cx="18745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320040" y="1527048"/>
            <a:ext cx="1874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DDEE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PAGOS</a:t>
            </a:r>
            <a:endParaRPr lang="en-US" sz="950" dirty="0"/>
          </a:p>
          <a:p>
            <a:pPr marL="0" indent="0" algn="ctr">
              <a:buNone/>
            </a:pPr>
            <a:r>
              <a:rPr lang="en-US" sz="950" b="1" dirty="0">
                <a:solidFill>
                  <a:srgbClr val="DDEE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RECIBIDOS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2404872" y="960120"/>
            <a:ext cx="2057400" cy="1024128"/>
          </a:xfrm>
          <a:prstGeom prst="rect">
            <a:avLst/>
          </a:prstGeom>
          <a:solidFill>
            <a:srgbClr val="C62828"/>
          </a:solidFill>
          <a:ln w="12700">
            <a:solidFill>
              <a:srgbClr val="C62828"/>
            </a:solidFill>
            <a:prstDash val="solid"/>
          </a:ln>
          <a:effectLst>
            <a:outerShdw blurRad="101600" dist="38100" dir="8100000" algn="bl" rotWithShape="0">
              <a:srgbClr val="000000">
                <a:alpha val="13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2496312" y="1024128"/>
            <a:ext cx="18745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2496312" y="1527048"/>
            <a:ext cx="1874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DDEE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MORA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4581144" y="960120"/>
            <a:ext cx="2057400" cy="1024128"/>
          </a:xfrm>
          <a:prstGeom prst="rect">
            <a:avLst/>
          </a:prstGeom>
          <a:solidFill>
            <a:srgbClr val="FF6600"/>
          </a:solidFill>
          <a:ln w="12700">
            <a:solidFill>
              <a:srgbClr val="FF6600"/>
            </a:solidFill>
            <a:prstDash val="solid"/>
          </a:ln>
          <a:effectLst>
            <a:outerShdw blurRad="101600" dist="38100" dir="8100000" algn="bl" rotWithShape="0">
              <a:srgbClr val="000000">
                <a:alpha val="13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4672584" y="1024128"/>
            <a:ext cx="18745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4672584" y="1527048"/>
            <a:ext cx="1874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DDEE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PENDIENTES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6757416" y="960120"/>
            <a:ext cx="2057400" cy="1024128"/>
          </a:xfrm>
          <a:prstGeom prst="rect">
            <a:avLst/>
          </a:prstGeom>
          <a:solidFill>
            <a:srgbClr val="003366"/>
          </a:solidFill>
          <a:ln w="12700">
            <a:solidFill>
              <a:srgbClr val="003366"/>
            </a:solidFill>
            <a:prstDash val="solid"/>
          </a:ln>
          <a:effectLst>
            <a:outerShdw blurRad="101600" dist="38100" dir="8100000" algn="bl" rotWithShape="0">
              <a:srgbClr val="000000">
                <a:alpha val="13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6848856" y="1024128"/>
            <a:ext cx="18745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Bs. 6,200</a:t>
            </a:r>
            <a:endParaRPr lang="en-US" sz="2800" dirty="0"/>
          </a:p>
        </p:txBody>
      </p:sp>
      <p:sp>
        <p:nvSpPr>
          <p:cNvPr id="16" name="Text 14"/>
          <p:cNvSpPr/>
          <p:nvPr/>
        </p:nvSpPr>
        <p:spPr>
          <a:xfrm>
            <a:off x="6848856" y="1527048"/>
            <a:ext cx="1874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DDEE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RECAUDADO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228600" y="2148840"/>
            <a:ext cx="3200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033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Flujo de trabajo: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228600" y="2578608"/>
            <a:ext cx="2743200" cy="2240280"/>
          </a:xfrm>
          <a:prstGeom prst="rect">
            <a:avLst/>
          </a:prstGeom>
          <a:solidFill>
            <a:srgbClr val="F0F4F8"/>
          </a:solidFill>
          <a:ln w="12700">
            <a:solidFill>
              <a:srgbClr val="E8ECF2"/>
            </a:solidFill>
            <a:prstDash val="solid"/>
          </a:ln>
          <a:effectLst>
            <a:outerShdw blurRad="101600" dist="38100" dir="8100000" algn="bl" rotWithShape="0">
              <a:srgbClr val="000000">
                <a:alpha val="13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320040" y="2633472"/>
            <a:ext cx="475488" cy="475488"/>
          </a:xfrm>
          <a:prstGeom prst="ellipse">
            <a:avLst/>
          </a:prstGeom>
          <a:solidFill>
            <a:srgbClr val="003366"/>
          </a:solidFill>
          <a:ln w="12700">
            <a:solidFill>
              <a:srgbClr val="003366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20040" y="2633472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868680" y="2670048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33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Crear concepto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320040" y="3182112"/>
            <a:ext cx="256032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1A25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🎓 Matrícula  📖 Guía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1A25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📅 Mensualidad  💳 Otro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1A25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 generan registros para todos</a:t>
            </a:r>
            <a:endParaRPr lang="en-US" sz="1150" dirty="0"/>
          </a:p>
        </p:txBody>
      </p:sp>
      <p:sp>
        <p:nvSpPr>
          <p:cNvPr id="23" name="Text 21"/>
          <p:cNvSpPr/>
          <p:nvPr/>
        </p:nvSpPr>
        <p:spPr>
          <a:xfrm>
            <a:off x="3017520" y="3291840"/>
            <a:ext cx="182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6600"/>
                </a:solidFill>
              </a:rPr>
              <a:t>→</a:t>
            </a:r>
            <a:endParaRPr lang="en-US" sz="2000" dirty="0"/>
          </a:p>
        </p:txBody>
      </p:sp>
      <p:sp>
        <p:nvSpPr>
          <p:cNvPr id="24" name="Shape 22"/>
          <p:cNvSpPr/>
          <p:nvPr/>
        </p:nvSpPr>
        <p:spPr>
          <a:xfrm>
            <a:off x="3172968" y="2578608"/>
            <a:ext cx="2743200" cy="2240280"/>
          </a:xfrm>
          <a:prstGeom prst="rect">
            <a:avLst/>
          </a:prstGeom>
          <a:solidFill>
            <a:srgbClr val="F0F4F8"/>
          </a:solidFill>
          <a:ln w="12700">
            <a:solidFill>
              <a:srgbClr val="E8ECF2"/>
            </a:solidFill>
            <a:prstDash val="solid"/>
          </a:ln>
          <a:effectLst>
            <a:outerShdw blurRad="101600" dist="38100" dir="8100000" algn="bl" rotWithShape="0">
              <a:srgbClr val="000000">
                <a:alpha val="13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3264408" y="2633472"/>
            <a:ext cx="475488" cy="475488"/>
          </a:xfrm>
          <a:prstGeom prst="ellipse">
            <a:avLst/>
          </a:prstGeom>
          <a:solidFill>
            <a:srgbClr val="003366"/>
          </a:solidFill>
          <a:ln w="12700">
            <a:solidFill>
              <a:srgbClr val="003366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264408" y="2633472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500" dirty="0"/>
          </a:p>
        </p:txBody>
      </p:sp>
      <p:sp>
        <p:nvSpPr>
          <p:cNvPr id="27" name="Text 25"/>
          <p:cNvSpPr/>
          <p:nvPr/>
        </p:nvSpPr>
        <p:spPr>
          <a:xfrm>
            <a:off x="3813048" y="2670048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33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Registrar pago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3264408" y="3182112"/>
            <a:ext cx="256032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1A25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Clic en estado del cursante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1A25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Ingresar monto, fecha,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1A25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N° de comprobante/recibo</a:t>
            </a:r>
            <a:endParaRPr lang="en-US" sz="1150" dirty="0"/>
          </a:p>
        </p:txBody>
      </p:sp>
      <p:sp>
        <p:nvSpPr>
          <p:cNvPr id="29" name="Text 27"/>
          <p:cNvSpPr/>
          <p:nvPr/>
        </p:nvSpPr>
        <p:spPr>
          <a:xfrm>
            <a:off x="5961888" y="3291840"/>
            <a:ext cx="182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6600"/>
                </a:solidFill>
              </a:rPr>
              <a:t>→</a:t>
            </a:r>
            <a:endParaRPr lang="en-US" sz="2000" dirty="0"/>
          </a:p>
        </p:txBody>
      </p:sp>
      <p:sp>
        <p:nvSpPr>
          <p:cNvPr id="30" name="Shape 28"/>
          <p:cNvSpPr/>
          <p:nvPr/>
        </p:nvSpPr>
        <p:spPr>
          <a:xfrm>
            <a:off x="6117336" y="2578608"/>
            <a:ext cx="2743200" cy="2240280"/>
          </a:xfrm>
          <a:prstGeom prst="rect">
            <a:avLst/>
          </a:prstGeom>
          <a:solidFill>
            <a:srgbClr val="F0F4F8"/>
          </a:solidFill>
          <a:ln w="12700">
            <a:solidFill>
              <a:srgbClr val="E8ECF2"/>
            </a:solidFill>
            <a:prstDash val="solid"/>
          </a:ln>
          <a:effectLst>
            <a:outerShdw blurRad="101600" dist="38100" dir="8100000" algn="bl" rotWithShape="0">
              <a:srgbClr val="000000">
                <a:alpha val="13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6208776" y="2633472"/>
            <a:ext cx="475488" cy="475488"/>
          </a:xfrm>
          <a:prstGeom prst="ellipse">
            <a:avLst/>
          </a:prstGeom>
          <a:solidFill>
            <a:srgbClr val="003366"/>
          </a:solidFill>
          <a:ln w="12700">
            <a:solidFill>
              <a:srgbClr val="003366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208776" y="2633472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500" dirty="0"/>
          </a:p>
        </p:txBody>
      </p:sp>
      <p:sp>
        <p:nvSpPr>
          <p:cNvPr id="33" name="Text 31"/>
          <p:cNvSpPr/>
          <p:nvPr/>
        </p:nvSpPr>
        <p:spPr>
          <a:xfrm>
            <a:off x="6757416" y="2670048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33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Estado automático</a:t>
            </a:r>
            <a:endParaRPr lang="en-US" sz="1300" dirty="0"/>
          </a:p>
        </p:txBody>
      </p:sp>
      <p:sp>
        <p:nvSpPr>
          <p:cNvPr id="34" name="Text 32"/>
          <p:cNvSpPr/>
          <p:nvPr/>
        </p:nvSpPr>
        <p:spPr>
          <a:xfrm>
            <a:off x="6208776" y="3182112"/>
            <a:ext cx="256032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1A25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Pagado → acceso normal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1A25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🔴 Mora → bloqueo inmediato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1A25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🔵 Exonerado → sin cobro</a:t>
            </a:r>
            <a:endParaRPr lang="en-US" sz="1150" dirty="0"/>
          </a:p>
        </p:txBody>
      </p:sp>
      <p:sp>
        <p:nvSpPr>
          <p:cNvPr id="35" name="Shape 33"/>
          <p:cNvSpPr/>
          <p:nvPr/>
        </p:nvSpPr>
        <p:spPr>
          <a:xfrm>
            <a:off x="8732520" y="868680"/>
            <a:ext cx="0" cy="3931920"/>
          </a:xfrm>
          <a:prstGeom prst="rect">
            <a:avLst/>
          </a:prstGeom>
          <a:solidFill>
            <a:srgbClr val="FF6600"/>
          </a:solidFill>
          <a:ln w="12700">
            <a:solidFill>
              <a:srgbClr val="FF6600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8796528" y="2103120"/>
            <a:ext cx="0" cy="0"/>
          </a:xfrm>
          <a:prstGeom prst="rect">
            <a:avLst/>
          </a:prstGeom>
          <a:solidFill>
            <a:srgbClr val="FF6600"/>
          </a:solidFill>
          <a:ln w="12700">
            <a:solidFill>
              <a:srgbClr val="FF6600"/>
            </a:solidFill>
            <a:prstDash val="solid"/>
          </a:ln>
        </p:spPr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03366"/>
          </a:solidFill>
          <a:ln w="12700">
            <a:solidFill>
              <a:srgbClr val="00336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777240"/>
            <a:ext cx="9144000" cy="64008"/>
          </a:xfrm>
          <a:prstGeom prst="rect">
            <a:avLst/>
          </a:prstGeom>
          <a:solidFill>
            <a:srgbClr val="FF6600"/>
          </a:solidFill>
          <a:ln w="12700">
            <a:solidFill>
              <a:srgbClr val="FF660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109728"/>
            <a:ext cx="8412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🖨️  Comprobante / Voucher de Pago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274320" y="960120"/>
            <a:ext cx="4389120" cy="3858768"/>
          </a:xfrm>
          <a:prstGeom prst="rect">
            <a:avLst/>
          </a:prstGeom>
          <a:solidFill>
            <a:srgbClr val="FFFFFF"/>
          </a:solidFill>
          <a:ln w="12700">
            <a:solidFill>
              <a:srgbClr val="E8ECF2"/>
            </a:solidFill>
            <a:prstDash val="solid"/>
          </a:ln>
          <a:effectLst>
            <a:outerShdw blurRad="101600" dist="38100" dir="8100000" algn="bl" rotWithShape="0">
              <a:srgbClr val="000000">
                <a:alpha val="13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74320" y="960120"/>
            <a:ext cx="4389120" cy="658368"/>
          </a:xfrm>
          <a:prstGeom prst="rect">
            <a:avLst/>
          </a:prstGeom>
          <a:solidFill>
            <a:srgbClr val="003366"/>
          </a:solidFill>
          <a:ln w="12700">
            <a:solidFill>
              <a:srgbClr val="003366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84048" y="1024128"/>
            <a:ext cx="502920" cy="502920"/>
          </a:xfrm>
          <a:prstGeom prst="ellipse">
            <a:avLst/>
          </a:prstGeom>
          <a:solidFill>
            <a:srgbClr val="FFFFFF">
              <a:alpha val="80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84048" y="1042416"/>
            <a:ext cx="502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000000"/>
                </a:solidFill>
              </a:rPr>
              <a:t>🏛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960120" y="1033272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EAEN Avaroa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960120" y="1298448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AABB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Escuela de Altos Estudios Nacionales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3383280" y="1097280"/>
            <a:ext cx="1005840" cy="320040"/>
          </a:xfrm>
          <a:prstGeom prst="rect">
            <a:avLst/>
          </a:prstGeom>
          <a:solidFill>
            <a:srgbClr val="FF6600"/>
          </a:solidFill>
          <a:ln w="12700">
            <a:solidFill>
              <a:srgbClr val="FF660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383280" y="1097280"/>
            <a:ext cx="1005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VOUCHER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411480" y="1719072"/>
            <a:ext cx="4114800" cy="731520"/>
          </a:xfrm>
          <a:prstGeom prst="rect">
            <a:avLst/>
          </a:prstGeom>
          <a:solidFill>
            <a:srgbClr val="F0F4FF"/>
          </a:solidFill>
          <a:ln w="12700">
            <a:solidFill>
              <a:srgbClr val="C5CAE9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11480" y="1783080"/>
            <a:ext cx="4114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0033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Bs. 500.00</a:t>
            </a:r>
            <a:endParaRPr lang="en-US" sz="2600" dirty="0"/>
          </a:p>
        </p:txBody>
      </p:sp>
      <p:sp>
        <p:nvSpPr>
          <p:cNvPr id="15" name="Shape 13"/>
          <p:cNvSpPr/>
          <p:nvPr/>
        </p:nvSpPr>
        <p:spPr>
          <a:xfrm>
            <a:off x="411480" y="2560320"/>
            <a:ext cx="4114800" cy="292608"/>
          </a:xfrm>
          <a:prstGeom prst="rect">
            <a:avLst/>
          </a:prstGeom>
          <a:solidFill>
            <a:srgbClr val="F0F4F8"/>
          </a:solidFill>
          <a:ln w="6350">
            <a:solidFill>
              <a:srgbClr val="E8ECF2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57200" y="2596896"/>
            <a:ext cx="1463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B7A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Concepto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1965960" y="2596896"/>
            <a:ext cx="2423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A25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Mensualidad Abr 2026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411480" y="2862072"/>
            <a:ext cx="4114800" cy="292608"/>
          </a:xfrm>
          <a:prstGeom prst="rect">
            <a:avLst/>
          </a:prstGeom>
          <a:solidFill>
            <a:srgbClr val="FFFFFF"/>
          </a:solidFill>
          <a:ln w="6350">
            <a:solidFill>
              <a:srgbClr val="E8ECF2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57200" y="2898648"/>
            <a:ext cx="1463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B7A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Tipo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1965960" y="2898648"/>
            <a:ext cx="2423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A25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📅 Mensualidad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411480" y="3163824"/>
            <a:ext cx="4114800" cy="292608"/>
          </a:xfrm>
          <a:prstGeom prst="rect">
            <a:avLst/>
          </a:prstGeom>
          <a:solidFill>
            <a:srgbClr val="F0F4F8"/>
          </a:solidFill>
          <a:ln w="6350">
            <a:solidFill>
              <a:srgbClr val="E8ECF2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57200" y="3200400"/>
            <a:ext cx="1463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B7A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Fecha de pago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1965960" y="3200400"/>
            <a:ext cx="2423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A25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09/04/2026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411480" y="3465576"/>
            <a:ext cx="4114800" cy="292608"/>
          </a:xfrm>
          <a:prstGeom prst="rect">
            <a:avLst/>
          </a:prstGeom>
          <a:solidFill>
            <a:srgbClr val="FFFFFF"/>
          </a:solidFill>
          <a:ln w="6350">
            <a:solidFill>
              <a:srgbClr val="E8ECF2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57200" y="3502152"/>
            <a:ext cx="1463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B7A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N° Comprobante</a:t>
            </a:r>
            <a:endParaRPr lang="en-US" sz="950" dirty="0"/>
          </a:p>
        </p:txBody>
      </p:sp>
      <p:sp>
        <p:nvSpPr>
          <p:cNvPr id="26" name="Text 24"/>
          <p:cNvSpPr/>
          <p:nvPr/>
        </p:nvSpPr>
        <p:spPr>
          <a:xfrm>
            <a:off x="1965960" y="3502152"/>
            <a:ext cx="2423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A25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REC-2026-047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411480" y="3767328"/>
            <a:ext cx="4114800" cy="292608"/>
          </a:xfrm>
          <a:prstGeom prst="rect">
            <a:avLst/>
          </a:prstGeom>
          <a:solidFill>
            <a:srgbClr val="F0F4F8"/>
          </a:solidFill>
          <a:ln w="6350">
            <a:solidFill>
              <a:srgbClr val="E8ECF2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57200" y="3803904"/>
            <a:ext cx="1463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B7A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Cursante</a:t>
            </a:r>
            <a:endParaRPr lang="en-US" sz="950" dirty="0"/>
          </a:p>
        </p:txBody>
      </p:sp>
      <p:sp>
        <p:nvSpPr>
          <p:cNvPr id="29" name="Text 27"/>
          <p:cNvSpPr/>
          <p:nvPr/>
        </p:nvSpPr>
        <p:spPr>
          <a:xfrm>
            <a:off x="1965960" y="3803904"/>
            <a:ext cx="2423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A25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BUEZO ALVAREZ, Tommy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411480" y="4069080"/>
            <a:ext cx="4114800" cy="292608"/>
          </a:xfrm>
          <a:prstGeom prst="rect">
            <a:avLst/>
          </a:prstGeom>
          <a:solidFill>
            <a:srgbClr val="FFFFFF"/>
          </a:solidFill>
          <a:ln w="6350">
            <a:solidFill>
              <a:srgbClr val="E8ECF2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57200" y="4105656"/>
            <a:ext cx="1463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B7A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Estado</a:t>
            </a:r>
            <a:endParaRPr lang="en-US" sz="950" dirty="0"/>
          </a:p>
        </p:txBody>
      </p:sp>
      <p:sp>
        <p:nvSpPr>
          <p:cNvPr id="32" name="Text 30"/>
          <p:cNvSpPr/>
          <p:nvPr/>
        </p:nvSpPr>
        <p:spPr>
          <a:xfrm>
            <a:off x="1965960" y="4105656"/>
            <a:ext cx="2423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A25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Pagado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4983480" y="1005840"/>
            <a:ext cx="3886200" cy="804672"/>
          </a:xfrm>
          <a:prstGeom prst="rect">
            <a:avLst/>
          </a:prstGeom>
          <a:solidFill>
            <a:srgbClr val="FFFFFF"/>
          </a:solidFill>
          <a:ln w="12700">
            <a:solidFill>
              <a:srgbClr val="E8ECF2"/>
            </a:solidFill>
            <a:prstDash val="solid"/>
          </a:ln>
          <a:effectLst>
            <a:outerShdw blurRad="101600" dist="38100" dir="8100000" algn="bl" rotWithShape="0">
              <a:srgbClr val="000000">
                <a:alpha val="13000"/>
              </a:srgbClr>
            </a:outerShdw>
          </a:effectLst>
        </p:spPr>
      </p:sp>
      <p:sp>
        <p:nvSpPr>
          <p:cNvPr id="34" name="Shape 32"/>
          <p:cNvSpPr/>
          <p:nvPr/>
        </p:nvSpPr>
        <p:spPr>
          <a:xfrm>
            <a:off x="4983480" y="1005840"/>
            <a:ext cx="502920" cy="804672"/>
          </a:xfrm>
          <a:prstGeom prst="rect">
            <a:avLst/>
          </a:prstGeom>
          <a:solidFill>
            <a:srgbClr val="003366"/>
          </a:solidFill>
          <a:ln w="12700">
            <a:solidFill>
              <a:srgbClr val="003366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983480" y="1133856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00000"/>
                </a:solidFill>
              </a:rPr>
              <a:t>🖨️</a:t>
            </a:r>
            <a:endParaRPr lang="en-US" sz="1800" dirty="0"/>
          </a:p>
        </p:txBody>
      </p:sp>
      <p:sp>
        <p:nvSpPr>
          <p:cNvPr id="36" name="Text 34"/>
          <p:cNvSpPr/>
          <p:nvPr/>
        </p:nvSpPr>
        <p:spPr>
          <a:xfrm>
            <a:off x="5541264" y="105156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33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Generación instantánea</a:t>
            </a:r>
            <a:endParaRPr lang="en-US" sz="1200" dirty="0"/>
          </a:p>
        </p:txBody>
      </p:sp>
      <p:sp>
        <p:nvSpPr>
          <p:cNvPr id="37" name="Text 35"/>
          <p:cNvSpPr/>
          <p:nvPr/>
        </p:nvSpPr>
        <p:spPr>
          <a:xfrm>
            <a:off x="5541264" y="1353312"/>
            <a:ext cx="3200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B7A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Clic en el botón Voucher → ventana con comprobante oficial con logo EAEN.</a:t>
            </a:r>
            <a:endParaRPr lang="en-US" sz="1050" dirty="0"/>
          </a:p>
        </p:txBody>
      </p:sp>
      <p:sp>
        <p:nvSpPr>
          <p:cNvPr id="38" name="Shape 36"/>
          <p:cNvSpPr/>
          <p:nvPr/>
        </p:nvSpPr>
        <p:spPr>
          <a:xfrm>
            <a:off x="4983480" y="1965960"/>
            <a:ext cx="3886200" cy="804672"/>
          </a:xfrm>
          <a:prstGeom prst="rect">
            <a:avLst/>
          </a:prstGeom>
          <a:solidFill>
            <a:srgbClr val="FFFFFF"/>
          </a:solidFill>
          <a:ln w="12700">
            <a:solidFill>
              <a:srgbClr val="E8ECF2"/>
            </a:solidFill>
            <a:prstDash val="solid"/>
          </a:ln>
          <a:effectLst>
            <a:outerShdw blurRad="101600" dist="38100" dir="8100000" algn="bl" rotWithShape="0">
              <a:srgbClr val="000000">
                <a:alpha val="13000"/>
              </a:srgbClr>
            </a:outerShdw>
          </a:effectLst>
        </p:spPr>
      </p:sp>
      <p:sp>
        <p:nvSpPr>
          <p:cNvPr id="39" name="Shape 37"/>
          <p:cNvSpPr/>
          <p:nvPr/>
        </p:nvSpPr>
        <p:spPr>
          <a:xfrm>
            <a:off x="4983480" y="1965960"/>
            <a:ext cx="502920" cy="804672"/>
          </a:xfrm>
          <a:prstGeom prst="rect">
            <a:avLst/>
          </a:prstGeom>
          <a:solidFill>
            <a:srgbClr val="003366"/>
          </a:solidFill>
          <a:ln w="12700">
            <a:solidFill>
              <a:srgbClr val="003366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4983480" y="2093976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00000"/>
                </a:solidFill>
              </a:rPr>
              <a:t>📄</a:t>
            </a:r>
            <a:endParaRPr lang="en-US" sz="1800" dirty="0"/>
          </a:p>
        </p:txBody>
      </p:sp>
      <p:sp>
        <p:nvSpPr>
          <p:cNvPr id="41" name="Text 39"/>
          <p:cNvSpPr/>
          <p:nvPr/>
        </p:nvSpPr>
        <p:spPr>
          <a:xfrm>
            <a:off x="5541264" y="201168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33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Guardar como PDF</a:t>
            </a:r>
            <a:endParaRPr lang="en-US" sz="1200" dirty="0"/>
          </a:p>
        </p:txBody>
      </p:sp>
      <p:sp>
        <p:nvSpPr>
          <p:cNvPr id="42" name="Text 40"/>
          <p:cNvSpPr/>
          <p:nvPr/>
        </p:nvSpPr>
        <p:spPr>
          <a:xfrm>
            <a:off x="5541264" y="2313432"/>
            <a:ext cx="3200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B7A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Botón de imprimir → seleccionar 'Guardar como PDF' en el diálogo del navegador.</a:t>
            </a:r>
            <a:endParaRPr lang="en-US" sz="1050" dirty="0"/>
          </a:p>
        </p:txBody>
      </p:sp>
      <p:sp>
        <p:nvSpPr>
          <p:cNvPr id="43" name="Shape 41"/>
          <p:cNvSpPr/>
          <p:nvPr/>
        </p:nvSpPr>
        <p:spPr>
          <a:xfrm>
            <a:off x="4983480" y="2926080"/>
            <a:ext cx="3886200" cy="804672"/>
          </a:xfrm>
          <a:prstGeom prst="rect">
            <a:avLst/>
          </a:prstGeom>
          <a:solidFill>
            <a:srgbClr val="FFFFFF"/>
          </a:solidFill>
          <a:ln w="12700">
            <a:solidFill>
              <a:srgbClr val="E8ECF2"/>
            </a:solidFill>
            <a:prstDash val="solid"/>
          </a:ln>
          <a:effectLst>
            <a:outerShdw blurRad="101600" dist="38100" dir="8100000" algn="bl" rotWithShape="0">
              <a:srgbClr val="000000">
                <a:alpha val="13000"/>
              </a:srgbClr>
            </a:outerShdw>
          </a:effectLst>
        </p:spPr>
      </p:sp>
      <p:sp>
        <p:nvSpPr>
          <p:cNvPr id="44" name="Shape 42"/>
          <p:cNvSpPr/>
          <p:nvPr/>
        </p:nvSpPr>
        <p:spPr>
          <a:xfrm>
            <a:off x="4983480" y="2926080"/>
            <a:ext cx="502920" cy="804672"/>
          </a:xfrm>
          <a:prstGeom prst="rect">
            <a:avLst/>
          </a:prstGeom>
          <a:solidFill>
            <a:srgbClr val="003366"/>
          </a:solidFill>
          <a:ln w="12700">
            <a:solidFill>
              <a:srgbClr val="003366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4983480" y="3054096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00000"/>
                </a:solidFill>
              </a:rPr>
              <a:t>✅</a:t>
            </a:r>
            <a:endParaRPr lang="en-US" sz="1800" dirty="0"/>
          </a:p>
        </p:txBody>
      </p:sp>
      <p:sp>
        <p:nvSpPr>
          <p:cNvPr id="46" name="Text 44"/>
          <p:cNvSpPr/>
          <p:nvPr/>
        </p:nvSpPr>
        <p:spPr>
          <a:xfrm>
            <a:off x="5541264" y="297180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33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Solo pagos confirmados</a:t>
            </a:r>
            <a:endParaRPr lang="en-US" sz="1200" dirty="0"/>
          </a:p>
        </p:txBody>
      </p:sp>
      <p:sp>
        <p:nvSpPr>
          <p:cNvPr id="47" name="Text 45"/>
          <p:cNvSpPr/>
          <p:nvPr/>
        </p:nvSpPr>
        <p:spPr>
          <a:xfrm>
            <a:off x="5541264" y="3273552"/>
            <a:ext cx="3200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B7A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botón Voucher aparece únicamente en pagos con estado Pagado.</a:t>
            </a:r>
            <a:endParaRPr lang="en-US" sz="1050" dirty="0"/>
          </a:p>
        </p:txBody>
      </p:sp>
      <p:sp>
        <p:nvSpPr>
          <p:cNvPr id="48" name="Shape 46"/>
          <p:cNvSpPr/>
          <p:nvPr/>
        </p:nvSpPr>
        <p:spPr>
          <a:xfrm>
            <a:off x="4983480" y="3886200"/>
            <a:ext cx="3886200" cy="804672"/>
          </a:xfrm>
          <a:prstGeom prst="rect">
            <a:avLst/>
          </a:prstGeom>
          <a:solidFill>
            <a:srgbClr val="FFFFFF"/>
          </a:solidFill>
          <a:ln w="12700">
            <a:solidFill>
              <a:srgbClr val="E8ECF2"/>
            </a:solidFill>
            <a:prstDash val="solid"/>
          </a:ln>
          <a:effectLst>
            <a:outerShdw blurRad="101600" dist="38100" dir="8100000" algn="bl" rotWithShape="0">
              <a:srgbClr val="000000">
                <a:alpha val="13000"/>
              </a:srgbClr>
            </a:outerShdw>
          </a:effectLst>
        </p:spPr>
      </p:sp>
      <p:sp>
        <p:nvSpPr>
          <p:cNvPr id="49" name="Shape 47"/>
          <p:cNvSpPr/>
          <p:nvPr/>
        </p:nvSpPr>
        <p:spPr>
          <a:xfrm>
            <a:off x="4983480" y="3886200"/>
            <a:ext cx="502920" cy="804672"/>
          </a:xfrm>
          <a:prstGeom prst="rect">
            <a:avLst/>
          </a:prstGeom>
          <a:solidFill>
            <a:srgbClr val="003366"/>
          </a:solidFill>
          <a:ln w="12700">
            <a:solidFill>
              <a:srgbClr val="003366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4983480" y="4014216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00000"/>
                </a:solidFill>
              </a:rPr>
              <a:t>🔒</a:t>
            </a:r>
            <a:endParaRPr lang="en-US" sz="1800" dirty="0"/>
          </a:p>
        </p:txBody>
      </p:sp>
      <p:sp>
        <p:nvSpPr>
          <p:cNvPr id="51" name="Text 49"/>
          <p:cNvSpPr/>
          <p:nvPr/>
        </p:nvSpPr>
        <p:spPr>
          <a:xfrm>
            <a:off x="5541264" y="393192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33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Validez oficial</a:t>
            </a:r>
            <a:endParaRPr lang="en-US" sz="1200" dirty="0"/>
          </a:p>
        </p:txBody>
      </p:sp>
      <p:sp>
        <p:nvSpPr>
          <p:cNvPr id="52" name="Text 50"/>
          <p:cNvSpPr/>
          <p:nvPr/>
        </p:nvSpPr>
        <p:spPr>
          <a:xfrm>
            <a:off x="5541264" y="4233672"/>
            <a:ext cx="3200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B7A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Incluye: nombre, CI, concepto, monto, fecha, N° comprobante y sello EAEN.</a:t>
            </a:r>
            <a:endParaRPr lang="en-US" sz="10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03366"/>
          </a:solidFill>
          <a:ln w="12700">
            <a:solidFill>
              <a:srgbClr val="00336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777240"/>
            <a:ext cx="9144000" cy="64008"/>
          </a:xfrm>
          <a:prstGeom prst="rect">
            <a:avLst/>
          </a:prstGeom>
          <a:solidFill>
            <a:srgbClr val="FF6600"/>
          </a:solidFill>
          <a:ln w="12700">
            <a:solidFill>
              <a:srgbClr val="FF660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109728"/>
            <a:ext cx="8412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🔒  Control de Acceso por Mora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274320" y="960120"/>
            <a:ext cx="3931920" cy="3886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CF2"/>
            </a:solidFill>
            <a:prstDash val="solid"/>
          </a:ln>
          <a:effectLst>
            <a:outerShdw blurRad="101600" dist="38100" dir="8100000" algn="bl" rotWithShape="0">
              <a:srgbClr val="000000">
                <a:alpha val="13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1417320" y="1143000"/>
            <a:ext cx="1645920" cy="1645920"/>
          </a:xfrm>
          <a:prstGeom prst="ellipse">
            <a:avLst/>
          </a:prstGeom>
          <a:solidFill>
            <a:srgbClr val="C62828"/>
          </a:solidFill>
          <a:ln w="12700">
            <a:solidFill>
              <a:srgbClr val="C62828"/>
            </a:solidFill>
            <a:prstDash val="solid"/>
          </a:ln>
          <a:effectLst>
            <a:outerShdw blurRad="101600" dist="38100" dir="8100000" algn="bl" rotWithShape="0">
              <a:srgbClr val="000000">
                <a:alpha val="13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1417320" y="1325880"/>
            <a:ext cx="16459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400" dirty="0">
                <a:solidFill>
                  <a:srgbClr val="000000"/>
                </a:solidFill>
              </a:rPr>
              <a:t>🔒</a:t>
            </a:r>
            <a:endParaRPr lang="en-US" sz="3400" dirty="0"/>
          </a:p>
        </p:txBody>
      </p:sp>
      <p:sp>
        <p:nvSpPr>
          <p:cNvPr id="8" name="Text 6"/>
          <p:cNvSpPr/>
          <p:nvPr/>
        </p:nvSpPr>
        <p:spPr>
          <a:xfrm>
            <a:off x="365760" y="2907792"/>
            <a:ext cx="3749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C62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Acceso restringido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411480" y="3346704"/>
            <a:ext cx="3657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6B7A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 cuenta tiene pagos pendientes que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dirty="0">
                <a:solidFill>
                  <a:srgbClr val="6B7A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impiden el acceso al sistema.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411480" y="3913632"/>
            <a:ext cx="3657600" cy="594360"/>
          </a:xfrm>
          <a:prstGeom prst="rect">
            <a:avLst/>
          </a:prstGeom>
          <a:solidFill>
            <a:srgbClr val="FFF0F0"/>
          </a:solidFill>
          <a:ln w="12700">
            <a:solidFill>
              <a:srgbClr val="FFCDD2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3977640"/>
            <a:ext cx="3474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62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📅 Mensualidad Abr 2026   →   Bs. 500.00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502920" y="4206240"/>
            <a:ext cx="3474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C62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adeudado: Bs. 500.00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4480560" y="1005840"/>
            <a:ext cx="4389120" cy="82296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CF2"/>
            </a:solidFill>
            <a:prstDash val="solid"/>
          </a:ln>
          <a:effectLst>
            <a:outerShdw blurRad="101600" dist="38100" dir="8100000" algn="bl" rotWithShape="0">
              <a:srgbClr val="000000">
                <a:alpha val="13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4480560" y="1005840"/>
            <a:ext cx="502920" cy="822960"/>
          </a:xfrm>
          <a:prstGeom prst="rect">
            <a:avLst/>
          </a:prstGeom>
          <a:solidFill>
            <a:srgbClr val="C62828"/>
          </a:solidFill>
          <a:ln w="12700">
            <a:solidFill>
              <a:srgbClr val="C6282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480560" y="117043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00000"/>
                </a:solidFill>
              </a:rPr>
              <a:t>🔴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5047488" y="105156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33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Activación automática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5047488" y="1353312"/>
            <a:ext cx="3749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B7A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 Finanzas marca pago como MORA → bloqueo inmediato en el próximo login del cursante.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4480560" y="1984248"/>
            <a:ext cx="4389120" cy="82296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CF2"/>
            </a:solidFill>
            <a:prstDash val="solid"/>
          </a:ln>
          <a:effectLst>
            <a:outerShdw blurRad="101600" dist="38100" dir="8100000" algn="bl" rotWithShape="0">
              <a:srgbClr val="000000">
                <a:alpha val="13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4480560" y="1984248"/>
            <a:ext cx="502920" cy="822960"/>
          </a:xfrm>
          <a:prstGeom prst="rect">
            <a:avLst/>
          </a:prstGeom>
          <a:solidFill>
            <a:srgbClr val="C62828"/>
          </a:solidFill>
          <a:ln w="12700">
            <a:solidFill>
              <a:srgbClr val="C62828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480560" y="21488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00000"/>
                </a:solidFill>
              </a:rPr>
              <a:t>⏰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5047488" y="2029968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33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Vencimiento automático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5047488" y="2331720"/>
            <a:ext cx="3749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B7A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Mensualidades PENDIENTES con +30 días de vencimiento también activan el bloqueo.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4480560" y="2962656"/>
            <a:ext cx="4389120" cy="82296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CF2"/>
            </a:solidFill>
            <a:prstDash val="solid"/>
          </a:ln>
          <a:effectLst>
            <a:outerShdw blurRad="101600" dist="38100" dir="8100000" algn="bl" rotWithShape="0">
              <a:srgbClr val="000000">
                <a:alpha val="13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4480560" y="2962656"/>
            <a:ext cx="502920" cy="822960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480560" y="3127248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00000"/>
                </a:solidFill>
              </a:rPr>
              <a:t>🏥</a:t>
            </a:r>
            <a:endParaRPr lang="en-US" sz="1800" dirty="0"/>
          </a:p>
        </p:txBody>
      </p:sp>
      <p:sp>
        <p:nvSpPr>
          <p:cNvPr id="26" name="Text 24"/>
          <p:cNvSpPr/>
          <p:nvPr/>
        </p:nvSpPr>
        <p:spPr>
          <a:xfrm>
            <a:off x="5047488" y="3008376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33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Modal inescapable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5047488" y="3310128"/>
            <a:ext cx="3749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B7A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cursante ve el modal con el detalle de la deuda. No puede acceder a ningún módulo.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4480560" y="3941064"/>
            <a:ext cx="4389120" cy="82296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CF2"/>
            </a:solidFill>
            <a:prstDash val="solid"/>
          </a:ln>
          <a:effectLst>
            <a:outerShdw blurRad="101600" dist="38100" dir="8100000" algn="bl" rotWithShape="0">
              <a:srgbClr val="000000">
                <a:alpha val="13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4480560" y="3941064"/>
            <a:ext cx="502920" cy="822960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480560" y="4105656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00000"/>
                </a:solidFill>
              </a:rPr>
              <a:t>✅</a:t>
            </a:r>
            <a:endParaRPr lang="en-US" sz="1800" dirty="0"/>
          </a:p>
        </p:txBody>
      </p:sp>
      <p:sp>
        <p:nvSpPr>
          <p:cNvPr id="31" name="Text 29"/>
          <p:cNvSpPr/>
          <p:nvPr/>
        </p:nvSpPr>
        <p:spPr>
          <a:xfrm>
            <a:off x="5047488" y="3986784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33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Desbloqueo automático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5047488" y="4288536"/>
            <a:ext cx="3749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B7A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 cambia estado a PAGADO o EXONERADO → en el próximo login el acceso se restaura.</a:t>
            </a:r>
            <a:endParaRPr lang="en-US" sz="10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0336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3366"/>
          </a:solidFill>
          <a:ln w="12700">
            <a:solidFill>
              <a:srgbClr val="00336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749808"/>
            <a:ext cx="9144000" cy="64008"/>
          </a:xfrm>
          <a:prstGeom prst="rect">
            <a:avLst/>
          </a:prstGeom>
          <a:solidFill>
            <a:srgbClr val="FF6600"/>
          </a:solidFill>
          <a:ln w="12700">
            <a:solidFill>
              <a:srgbClr val="FF660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0"/>
            <a:ext cx="9144000" cy="749808"/>
          </a:xfrm>
          <a:prstGeom prst="rect">
            <a:avLst/>
          </a:prstGeom>
          <a:solidFill>
            <a:srgbClr val="002244"/>
          </a:solidFill>
          <a:ln w="12700">
            <a:solidFill>
              <a:srgbClr val="00224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65760" y="91440"/>
            <a:ext cx="8412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Resumen — Release v1.0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256032" y="987552"/>
            <a:ext cx="1325880" cy="1078992"/>
          </a:xfrm>
          <a:prstGeom prst="rect">
            <a:avLst/>
          </a:prstGeom>
          <a:solidFill>
            <a:srgbClr val="FFFFFF">
              <a:alpha val="90000"/>
            </a:srgbClr>
          </a:solidFill>
          <a:ln w="12700">
            <a:solidFill>
              <a:srgbClr val="FFFFFF">
                <a:alpha val="3000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56032" y="1033272"/>
            <a:ext cx="13258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000000"/>
                </a:solidFill>
              </a:rPr>
              <a:t>👥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301752" y="1536192"/>
            <a:ext cx="12344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Gestión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Usuarios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1719072" y="987552"/>
            <a:ext cx="1325880" cy="1078992"/>
          </a:xfrm>
          <a:prstGeom prst="rect">
            <a:avLst/>
          </a:prstGeom>
          <a:solidFill>
            <a:srgbClr val="FFFFFF">
              <a:alpha val="90000"/>
            </a:srgbClr>
          </a:solidFill>
          <a:ln w="12700">
            <a:solidFill>
              <a:srgbClr val="FFFFFF">
                <a:alpha val="3000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719072" y="1033272"/>
            <a:ext cx="13258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000000"/>
                </a:solidFill>
              </a:rPr>
              <a:t>📚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1764792" y="1536192"/>
            <a:ext cx="12344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Gestión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Cursos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3182112" y="987552"/>
            <a:ext cx="1325880" cy="1078992"/>
          </a:xfrm>
          <a:prstGeom prst="rect">
            <a:avLst/>
          </a:prstGeom>
          <a:solidFill>
            <a:srgbClr val="FFFFFF">
              <a:alpha val="90000"/>
            </a:srgbClr>
          </a:solidFill>
          <a:ln w="12700">
            <a:solidFill>
              <a:srgbClr val="FFFFFF">
                <a:alpha val="3000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182112" y="1033272"/>
            <a:ext cx="13258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000000"/>
                </a:solidFill>
              </a:rPr>
              <a:t>📋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3227832" y="1536192"/>
            <a:ext cx="12344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Asistencia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4645152" y="987552"/>
            <a:ext cx="1325880" cy="1078992"/>
          </a:xfrm>
          <a:prstGeom prst="rect">
            <a:avLst/>
          </a:prstGeom>
          <a:solidFill>
            <a:srgbClr val="FFFFFF">
              <a:alpha val="90000"/>
            </a:srgbClr>
          </a:solidFill>
          <a:ln w="12700">
            <a:solidFill>
              <a:srgbClr val="FFFFFF">
                <a:alpha val="30000"/>
              </a:srgbClr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645152" y="1033272"/>
            <a:ext cx="13258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000000"/>
                </a:solidFill>
              </a:rPr>
              <a:t>📊</a:t>
            </a:r>
            <a:endParaRPr lang="en-US" sz="2400" dirty="0"/>
          </a:p>
        </p:txBody>
      </p:sp>
      <p:sp>
        <p:nvSpPr>
          <p:cNvPr id="17" name="Text 15"/>
          <p:cNvSpPr/>
          <p:nvPr/>
        </p:nvSpPr>
        <p:spPr>
          <a:xfrm>
            <a:off x="4690872" y="1536192"/>
            <a:ext cx="12344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Calificaciones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6108192" y="987552"/>
            <a:ext cx="1325880" cy="1078992"/>
          </a:xfrm>
          <a:prstGeom prst="rect">
            <a:avLst/>
          </a:prstGeom>
          <a:solidFill>
            <a:srgbClr val="FFFFFF">
              <a:alpha val="90000"/>
            </a:srgbClr>
          </a:solidFill>
          <a:ln w="12700">
            <a:solidFill>
              <a:srgbClr val="FFFFFF">
                <a:alpha val="30000"/>
              </a:srgbClr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108192" y="1033272"/>
            <a:ext cx="13258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000000"/>
                </a:solidFill>
              </a:rPr>
              <a:t>📤</a:t>
            </a:r>
            <a:endParaRPr lang="en-US" sz="2400" dirty="0"/>
          </a:p>
        </p:txBody>
      </p:sp>
      <p:sp>
        <p:nvSpPr>
          <p:cNvPr id="20" name="Text 18"/>
          <p:cNvSpPr/>
          <p:nvPr/>
        </p:nvSpPr>
        <p:spPr>
          <a:xfrm>
            <a:off x="6153912" y="1536192"/>
            <a:ext cx="12344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Tareas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7571232" y="987552"/>
            <a:ext cx="1325880" cy="1078992"/>
          </a:xfrm>
          <a:prstGeom prst="rect">
            <a:avLst/>
          </a:prstGeom>
          <a:solidFill>
            <a:srgbClr val="FFFFFF">
              <a:alpha val="90000"/>
            </a:srgbClr>
          </a:solidFill>
          <a:ln w="12700">
            <a:solidFill>
              <a:srgbClr val="FFFFFF">
                <a:alpha val="30000"/>
              </a:srgbClr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571232" y="1033272"/>
            <a:ext cx="13258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000000"/>
                </a:solidFill>
              </a:rPr>
              <a:t>📅</a:t>
            </a:r>
            <a:endParaRPr lang="en-US" sz="2400" dirty="0"/>
          </a:p>
        </p:txBody>
      </p:sp>
      <p:sp>
        <p:nvSpPr>
          <p:cNvPr id="23" name="Text 21"/>
          <p:cNvSpPr/>
          <p:nvPr/>
        </p:nvSpPr>
        <p:spPr>
          <a:xfrm>
            <a:off x="7616952" y="1536192"/>
            <a:ext cx="12344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Horarios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256032" y="2267712"/>
            <a:ext cx="1325880" cy="1078992"/>
          </a:xfrm>
          <a:prstGeom prst="rect">
            <a:avLst/>
          </a:prstGeom>
          <a:solidFill>
            <a:srgbClr val="FFFFFF">
              <a:alpha val="90000"/>
            </a:srgbClr>
          </a:solidFill>
          <a:ln w="12700">
            <a:solidFill>
              <a:srgbClr val="FFFFFF">
                <a:alpha val="30000"/>
              </a:srgbClr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256032" y="2313432"/>
            <a:ext cx="13258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000000"/>
                </a:solidFill>
              </a:rPr>
              <a:t>📐</a:t>
            </a:r>
            <a:endParaRPr lang="en-US" sz="2400" dirty="0"/>
          </a:p>
        </p:txBody>
      </p:sp>
      <p:sp>
        <p:nvSpPr>
          <p:cNvPr id="26" name="Text 24"/>
          <p:cNvSpPr/>
          <p:nvPr/>
        </p:nvSpPr>
        <p:spPr>
          <a:xfrm>
            <a:off x="301752" y="2816352"/>
            <a:ext cx="12344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Planificación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1719072" y="2267712"/>
            <a:ext cx="1325880" cy="1078992"/>
          </a:xfrm>
          <a:prstGeom prst="rect">
            <a:avLst/>
          </a:prstGeom>
          <a:solidFill>
            <a:srgbClr val="FFFFFF">
              <a:alpha val="90000"/>
            </a:srgbClr>
          </a:solidFill>
          <a:ln w="12700">
            <a:solidFill>
              <a:srgbClr val="FFFFFF">
                <a:alpha val="30000"/>
              </a:srgbClr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1719072" y="2313432"/>
            <a:ext cx="13258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000000"/>
                </a:solidFill>
              </a:rPr>
              <a:t>⭐</a:t>
            </a:r>
            <a:endParaRPr lang="en-US" sz="2400" dirty="0"/>
          </a:p>
        </p:txBody>
      </p:sp>
      <p:sp>
        <p:nvSpPr>
          <p:cNvPr id="29" name="Text 27"/>
          <p:cNvSpPr/>
          <p:nvPr/>
        </p:nvSpPr>
        <p:spPr>
          <a:xfrm>
            <a:off x="1764792" y="2816352"/>
            <a:ext cx="12344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Eval.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Institucional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3182112" y="2267712"/>
            <a:ext cx="1325880" cy="1078992"/>
          </a:xfrm>
          <a:prstGeom prst="rect">
            <a:avLst/>
          </a:prstGeom>
          <a:solidFill>
            <a:srgbClr val="FFFFFF">
              <a:alpha val="90000"/>
            </a:srgbClr>
          </a:solidFill>
          <a:ln w="12700">
            <a:solidFill>
              <a:srgbClr val="FFFFFF">
                <a:alpha val="30000"/>
              </a:srgbClr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3182112" y="2313432"/>
            <a:ext cx="13258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000000"/>
                </a:solidFill>
              </a:rPr>
              <a:t>📅</a:t>
            </a:r>
            <a:endParaRPr lang="en-US" sz="2400" dirty="0"/>
          </a:p>
        </p:txBody>
      </p:sp>
      <p:sp>
        <p:nvSpPr>
          <p:cNvPr id="32" name="Text 30"/>
          <p:cNvSpPr/>
          <p:nvPr/>
        </p:nvSpPr>
        <p:spPr>
          <a:xfrm>
            <a:off x="3227832" y="2816352"/>
            <a:ext cx="12344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Calendario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4645152" y="2267712"/>
            <a:ext cx="1325880" cy="1078992"/>
          </a:xfrm>
          <a:prstGeom prst="rect">
            <a:avLst/>
          </a:prstGeom>
          <a:solidFill>
            <a:srgbClr val="FFFFFF">
              <a:alpha val="90000"/>
            </a:srgbClr>
          </a:solidFill>
          <a:ln w="12700">
            <a:solidFill>
              <a:srgbClr val="FFFFFF">
                <a:alpha val="30000"/>
              </a:srgbClr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645152" y="2313432"/>
            <a:ext cx="13258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000000"/>
                </a:solidFill>
              </a:rPr>
              <a:t>💰</a:t>
            </a:r>
            <a:endParaRPr lang="en-US" sz="2400" dirty="0"/>
          </a:p>
        </p:txBody>
      </p:sp>
      <p:sp>
        <p:nvSpPr>
          <p:cNvPr id="35" name="Text 33"/>
          <p:cNvSpPr/>
          <p:nvPr/>
        </p:nvSpPr>
        <p:spPr>
          <a:xfrm>
            <a:off x="4690872" y="2816352"/>
            <a:ext cx="12344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Finanzas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6108192" y="2267712"/>
            <a:ext cx="1325880" cy="1078992"/>
          </a:xfrm>
          <a:prstGeom prst="rect">
            <a:avLst/>
          </a:prstGeom>
          <a:solidFill>
            <a:srgbClr val="FFFFFF">
              <a:alpha val="90000"/>
            </a:srgbClr>
          </a:solidFill>
          <a:ln w="12700">
            <a:solidFill>
              <a:srgbClr val="FFFFFF">
                <a:alpha val="30000"/>
              </a:srgbClr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6108192" y="2313432"/>
            <a:ext cx="13258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000000"/>
                </a:solidFill>
              </a:rPr>
              <a:t>🖨️</a:t>
            </a:r>
            <a:endParaRPr lang="en-US" sz="2400" dirty="0"/>
          </a:p>
        </p:txBody>
      </p:sp>
      <p:sp>
        <p:nvSpPr>
          <p:cNvPr id="38" name="Text 36"/>
          <p:cNvSpPr/>
          <p:nvPr/>
        </p:nvSpPr>
        <p:spPr>
          <a:xfrm>
            <a:off x="6153912" y="2816352"/>
            <a:ext cx="12344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Vouchers</a:t>
            </a:r>
            <a:endParaRPr lang="en-US" sz="1000" dirty="0"/>
          </a:p>
        </p:txBody>
      </p:sp>
      <p:sp>
        <p:nvSpPr>
          <p:cNvPr id="39" name="Shape 37"/>
          <p:cNvSpPr/>
          <p:nvPr/>
        </p:nvSpPr>
        <p:spPr>
          <a:xfrm>
            <a:off x="7571232" y="2267712"/>
            <a:ext cx="1325880" cy="1078992"/>
          </a:xfrm>
          <a:prstGeom prst="rect">
            <a:avLst/>
          </a:prstGeom>
          <a:solidFill>
            <a:srgbClr val="FFFFFF">
              <a:alpha val="90000"/>
            </a:srgbClr>
          </a:solidFill>
          <a:ln w="12700">
            <a:solidFill>
              <a:srgbClr val="FFFFFF">
                <a:alpha val="30000"/>
              </a:srgbClr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7571232" y="2313432"/>
            <a:ext cx="13258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000000"/>
                </a:solidFill>
              </a:rPr>
              <a:t>🔒</a:t>
            </a:r>
            <a:endParaRPr lang="en-US" sz="2400" dirty="0"/>
          </a:p>
        </p:txBody>
      </p:sp>
      <p:sp>
        <p:nvSpPr>
          <p:cNvPr id="41" name="Text 39"/>
          <p:cNvSpPr/>
          <p:nvPr/>
        </p:nvSpPr>
        <p:spPr>
          <a:xfrm>
            <a:off x="7616952" y="2816352"/>
            <a:ext cx="12344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Bloqueo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Mora</a:t>
            </a:r>
            <a:endParaRPr lang="en-US" sz="1000" dirty="0"/>
          </a:p>
        </p:txBody>
      </p:sp>
      <p:sp>
        <p:nvSpPr>
          <p:cNvPr id="42" name="Shape 40"/>
          <p:cNvSpPr/>
          <p:nvPr/>
        </p:nvSpPr>
        <p:spPr>
          <a:xfrm>
            <a:off x="0" y="3611880"/>
            <a:ext cx="9144000" cy="1531620"/>
          </a:xfrm>
          <a:prstGeom prst="rect">
            <a:avLst/>
          </a:prstGeom>
          <a:solidFill>
            <a:srgbClr val="001833"/>
          </a:solidFill>
          <a:ln w="12700">
            <a:solidFill>
              <a:srgbClr val="001833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0" y="3611880"/>
            <a:ext cx="9144000" cy="54864"/>
          </a:xfrm>
          <a:prstGeom prst="rect">
            <a:avLst/>
          </a:prstGeom>
          <a:solidFill>
            <a:srgbClr val="FF6600"/>
          </a:solidFill>
          <a:ln w="12700">
            <a:solidFill>
              <a:srgbClr val="FF6600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228600" y="3749040"/>
            <a:ext cx="2057400" cy="502920"/>
          </a:xfrm>
          <a:prstGeom prst="rect">
            <a:avLst/>
          </a:prstGeom>
          <a:solidFill>
            <a:srgbClr val="FFFFFF">
              <a:alpha val="15000"/>
            </a:srgbClr>
          </a:solidFill>
          <a:ln w="12700">
            <a:solidFill>
              <a:srgbClr val="FFFFFF">
                <a:alpha val="30000"/>
              </a:srgbClr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256032" y="3776472"/>
            <a:ext cx="2002536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✔  6 Roles de acceso</a:t>
            </a:r>
            <a:endParaRPr lang="en-US" sz="1050" dirty="0"/>
          </a:p>
        </p:txBody>
      </p:sp>
      <p:sp>
        <p:nvSpPr>
          <p:cNvPr id="46" name="Shape 44"/>
          <p:cNvSpPr/>
          <p:nvPr/>
        </p:nvSpPr>
        <p:spPr>
          <a:xfrm>
            <a:off x="2404872" y="3749040"/>
            <a:ext cx="2057400" cy="502920"/>
          </a:xfrm>
          <a:prstGeom prst="rect">
            <a:avLst/>
          </a:prstGeom>
          <a:solidFill>
            <a:srgbClr val="FFFFFF">
              <a:alpha val="15000"/>
            </a:srgbClr>
          </a:solidFill>
          <a:ln w="12700">
            <a:solidFill>
              <a:srgbClr val="FFFFFF">
                <a:alpha val="30000"/>
              </a:srgbClr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2432304" y="3776472"/>
            <a:ext cx="2002536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✔  12+ Módulos funcionales</a:t>
            </a:r>
            <a:endParaRPr lang="en-US" sz="1050" dirty="0"/>
          </a:p>
        </p:txBody>
      </p:sp>
      <p:sp>
        <p:nvSpPr>
          <p:cNvPr id="48" name="Shape 46"/>
          <p:cNvSpPr/>
          <p:nvPr/>
        </p:nvSpPr>
        <p:spPr>
          <a:xfrm>
            <a:off x="4581144" y="3749040"/>
            <a:ext cx="2057400" cy="502920"/>
          </a:xfrm>
          <a:prstGeom prst="rect">
            <a:avLst/>
          </a:prstGeom>
          <a:solidFill>
            <a:srgbClr val="FFFFFF">
              <a:alpha val="15000"/>
            </a:srgbClr>
          </a:solidFill>
          <a:ln w="12700">
            <a:solidFill>
              <a:srgbClr val="FFFFFF">
                <a:alpha val="30000"/>
              </a:srgbClr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4608576" y="3776472"/>
            <a:ext cx="2002536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✔  REST API completa</a:t>
            </a:r>
            <a:endParaRPr lang="en-US" sz="1050" dirty="0"/>
          </a:p>
        </p:txBody>
      </p:sp>
      <p:sp>
        <p:nvSpPr>
          <p:cNvPr id="50" name="Shape 48"/>
          <p:cNvSpPr/>
          <p:nvPr/>
        </p:nvSpPr>
        <p:spPr>
          <a:xfrm>
            <a:off x="6757416" y="3749040"/>
            <a:ext cx="2057400" cy="502920"/>
          </a:xfrm>
          <a:prstGeom prst="rect">
            <a:avLst/>
          </a:prstGeom>
          <a:solidFill>
            <a:srgbClr val="FFFFFF">
              <a:alpha val="15000"/>
            </a:srgbClr>
          </a:solidFill>
          <a:ln w="12700">
            <a:solidFill>
              <a:srgbClr val="FFFFFF">
                <a:alpha val="30000"/>
              </a:srgbClr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6784848" y="3776472"/>
            <a:ext cx="2002536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✔  Bloqueo financiero automático</a:t>
            </a:r>
            <a:endParaRPr lang="en-US" sz="1050" dirty="0"/>
          </a:p>
        </p:txBody>
      </p:sp>
      <p:sp>
        <p:nvSpPr>
          <p:cNvPr id="52" name="Text 50"/>
          <p:cNvSpPr/>
          <p:nvPr/>
        </p:nvSpPr>
        <p:spPr>
          <a:xfrm>
            <a:off x="274320" y="4370832"/>
            <a:ext cx="8595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7799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© 2026  ·  EAEN Avaroa — Escuela de Altos Estudios Nacionales  ·  Cochabamba, Bolivia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922</Words>
  <Application>Microsoft Office PowerPoint</Application>
  <PresentationFormat>Presentación en pantalla (16:9)</PresentationFormat>
  <Paragraphs>260</Paragraphs>
  <Slides>10</Slides>
  <Notes>10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10</vt:i4>
      </vt:variant>
    </vt:vector>
  </HeadingPairs>
  <TitlesOfParts>
    <vt:vector size="14" baseType="lpstr">
      <vt:lpstr>Arial</vt:lpstr>
      <vt:lpstr>Calibri</vt:lpstr>
      <vt:lpstr>Consolas</vt:lpstr>
      <vt:lpstr>Office Theme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EAEN Avaroa — Sistema de Gestión Educativa v1.0</dc:title>
  <dc:subject>PptxGenJS Presentation</dc:subject>
  <dc:creator>PptxGenJS</dc:creator>
  <cp:lastModifiedBy>Carlos Azcarraga</cp:lastModifiedBy>
  <cp:revision>2</cp:revision>
  <dcterms:created xsi:type="dcterms:W3CDTF">2026-04-10T12:49:29Z</dcterms:created>
  <dcterms:modified xsi:type="dcterms:W3CDTF">2026-04-10T13:17:23Z</dcterms:modified>
</cp:coreProperties>
</file>